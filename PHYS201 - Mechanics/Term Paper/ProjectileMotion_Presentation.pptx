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paper presents a within-system comparison of two projectile motion models: a high-fidelity RK4 numerical simulation against a first-order perturbation approximation. We test two physical bodies: a slender rod (with aerodynamic torque) and a heavy shot put ball. Our goal is to find when the analytical shortcut holds — and when it breaks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quadratic drag makes the equations of motion nonlinear and coupled. Analytical solutions don't exist in general. We compare two strategies: RK4 (our truth reference) and a perturbation expansion linearized at launch. Key novelty: we compare each body against itself — not rod vs. ball — so only the math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perturbation method works in four steps. Step 1: We linearize the drag by fixing the speed at v₀. This gives a drag coefficient gamma = epsilon times v₀. Step 2: We expand the trajectory as a power series in epsilon. Step 3: The zeroth-order solution is just vacuum ballistics. Step 4: The first-order correction adds the atmospheric drag effect. The key validity condition is epsilon times v₀ times T_vac must be much less than 1. We warn users at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I is a slender rod. Its epsilon is 0.006125 per meter, giving a smallness parameter of 1.08 — well above our 0.3 threshold. The perturbation approximation is invalid here. The rod also has an aerodynamic pitching torque from Munk's slender body theory, proportional to sin(2 phi) where phi is the angle of attack. System II is a 7.26 kg shot put. Its high mass-to-area ratio means epsilon is tiny: 0.000448 per meter. Smallness parameter is only 0.079 — safely valid. Both systems are launched at 35 m/s at 45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rod results are dramatic. Range error is 30% — the perturbation model under-predicts range by 24 meters. Why? Because the perturbation applies a constant high drag from launch to landing, based on the fast initial speed. But with quadratic drag, as the rod slows near the apex, the drag force drops with v-squared — so the real rod glides much further. The linearization over-damps the slow phases of flight. Also notable: the rod undergoes pitch oscillation — restoring torque from Munk's model means it oscillates around the flight path direction, accumulating 1.24 equivalent rotations. This is completely absent from the perturbation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mode results are the opposite story. Errors are under 1.5% across all metrics. The RK4 and perturbation trajectories are visually indistinguishable on a plot — only a zoomed-in inset near the landing point shows any difference. The key: the shot put weighs 7.26 kg and has a tiny frontal area. Its epsilon is 14 times smaller than the rod's. The nonlinear coupling terms are so small they can be safely ignored — the analytical shortcut works perfectly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two stories side by side. The rod: perturbation is invalid, 30% range error, over-damping in slow phase, missing torque physics. The ball: perturbation is valid, under 1.5% error across all metrics, excellent analytical surrogate. The takeaway: the smallness parameter epsilon times v₀ times T_vac is the decisive test — check it before trusting the analytical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conclusions. First: the smallness parameter is the key test — if it's below 0.3, the perturbation approximation is valid. Second: the physical reason for perturbation failure is the v-squared decay of drag near the apex. Constant linearized drag cannot capture this. Third: rotational dynamics and torque coupling require the full multi-degree-of-freedom numerical solver. Fourth: for dense projectiles like the shot put with high ballistic coefficients, the analytical closed-form perturbation model is just as accurate as RK4 and far cheaper to compute. Matching the model to the physical scale of the problem is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1371600"/>
            <a:ext cx="9144000" cy="2103120"/>
          </a:xfrm>
          <a:prstGeom prst="rect">
            <a:avLst/>
          </a:prstGeom>
          <a:solidFill>
            <a:srgbClr val="1B7F8E">
              <a:alpha val="20000"/>
            </a:srgbClr>
          </a:solidFill>
          <a:ln w="12700">
            <a:solidFill>
              <a:srgbClr val="1B7F8E"/>
            </a:solidFill>
            <a:prstDash val="solid"/>
          </a:ln>
        </p:spPr>
      </p:sp>
      <p:sp>
        <p:nvSpPr>
          <p:cNvPr id="3" name="Text 1"/>
          <p:cNvSpPr/>
          <p:nvPr/>
        </p:nvSpPr>
        <p:spPr>
          <a:xfrm>
            <a:off x="457200" y="320040"/>
            <a:ext cx="8229600" cy="502920"/>
          </a:xfrm>
          <a:prstGeom prst="rect">
            <a:avLst/>
          </a:prstGeom>
          <a:noFill/>
          <a:ln/>
        </p:spPr>
        <p:txBody>
          <a:bodyPr wrap="square" rtlCol="0" anchor="ctr"/>
          <a:lstStyle/>
          <a:p>
            <a:pPr algn="ctr" indent="0" marL="0">
              <a:buNone/>
            </a:pPr>
            <a:r>
              <a:rPr lang="en-US" sz="1300" b="1" spc="600" kern="0" dirty="0">
                <a:solidFill>
                  <a:srgbClr val="A8DADC"/>
                </a:solidFill>
              </a:rPr>
              <a:t>PROJECTILE MOTION</a:t>
            </a:r>
            <a:endParaRPr lang="en-US" sz="1300" dirty="0"/>
          </a:p>
        </p:txBody>
      </p:sp>
      <p:sp>
        <p:nvSpPr>
          <p:cNvPr id="4" name="Text 2"/>
          <p:cNvSpPr/>
          <p:nvPr/>
        </p:nvSpPr>
        <p:spPr>
          <a:xfrm>
            <a:off x="457200" y="1463040"/>
            <a:ext cx="8229600" cy="777240"/>
          </a:xfrm>
          <a:prstGeom prst="rect">
            <a:avLst/>
          </a:prstGeom>
          <a:noFill/>
          <a:ln/>
        </p:spPr>
        <p:txBody>
          <a:bodyPr wrap="square" rtlCol="0" anchor="ctr"/>
          <a:lstStyle/>
          <a:p>
            <a:pPr algn="ctr" indent="0" marL="0">
              <a:buNone/>
            </a:pPr>
            <a:r>
              <a:rPr lang="en-US" sz="2800" b="1" dirty="0">
                <a:solidFill>
                  <a:srgbClr val="FFFFFF"/>
                </a:solidFill>
              </a:rPr>
              <a:t>Comprehensive Numerical &amp; Perturbative Analysis</a:t>
            </a:r>
            <a:endParaRPr lang="en-US" sz="2800" dirty="0"/>
          </a:p>
        </p:txBody>
      </p:sp>
      <p:sp>
        <p:nvSpPr>
          <p:cNvPr id="5" name="Text 3"/>
          <p:cNvSpPr/>
          <p:nvPr/>
        </p:nvSpPr>
        <p:spPr>
          <a:xfrm>
            <a:off x="640080" y="2331720"/>
            <a:ext cx="7863840" cy="502920"/>
          </a:xfrm>
          <a:prstGeom prst="rect">
            <a:avLst/>
          </a:prstGeom>
          <a:noFill/>
          <a:ln/>
        </p:spPr>
        <p:txBody>
          <a:bodyPr wrap="square" rtlCol="0" anchor="ctr"/>
          <a:lstStyle/>
          <a:p>
            <a:pPr algn="ctr" indent="0" marL="0">
              <a:buNone/>
            </a:pPr>
            <a:r>
              <a:rPr lang="en-US" sz="1400" i="1" dirty="0">
                <a:solidFill>
                  <a:srgbClr val="A8DADC"/>
                </a:solidFill>
              </a:rPr>
              <a:t>Within-System Comparison: Linearized Perturbation vs. Nonlinear Quadratic Drag</a:t>
            </a:r>
            <a:endParaRPr lang="en-US" sz="1400" dirty="0"/>
          </a:p>
        </p:txBody>
      </p:sp>
      <p:sp>
        <p:nvSpPr>
          <p:cNvPr id="6" name="Shape 4"/>
          <p:cNvSpPr/>
          <p:nvPr/>
        </p:nvSpPr>
        <p:spPr>
          <a:xfrm>
            <a:off x="2286000" y="3200400"/>
            <a:ext cx="4572000" cy="822960"/>
          </a:xfrm>
          <a:prstGeom prst="rect">
            <a:avLst/>
          </a:prstGeom>
          <a:solidFill>
            <a:srgbClr val="2EB5C9">
              <a:alpha val="25000"/>
            </a:srgbClr>
          </a:solidFill>
          <a:ln w="12700">
            <a:solidFill>
              <a:srgbClr val="2EB5C9"/>
            </a:solidFill>
            <a:prstDash val="solid"/>
          </a:ln>
        </p:spPr>
      </p:sp>
      <p:sp>
        <p:nvSpPr>
          <p:cNvPr id="7" name="Text 5"/>
          <p:cNvSpPr/>
          <p:nvPr/>
        </p:nvSpPr>
        <p:spPr>
          <a:xfrm>
            <a:off x="2286000" y="3246120"/>
            <a:ext cx="4572000" cy="731520"/>
          </a:xfrm>
          <a:prstGeom prst="rect">
            <a:avLst/>
          </a:prstGeom>
          <a:noFill/>
          <a:ln/>
        </p:spPr>
        <p:txBody>
          <a:bodyPr wrap="square" rtlCol="0" anchor="ctr"/>
          <a:lstStyle/>
          <a:p>
            <a:pPr algn="ctr" indent="0" marL="0">
              <a:buNone/>
            </a:pPr>
            <a:r>
              <a:rPr lang="en-US" sz="1300" b="1" dirty="0">
                <a:solidFill>
                  <a:srgbClr val="FFFFFF"/>
                </a:solidFill>
              </a:rPr>
              <a:t>Ahmet Bugra Ertürk</a:t>
            </a:r>
            <a:endParaRPr lang="en-US" sz="1300" dirty="0"/>
          </a:p>
          <a:p>
            <a:pPr algn="ctr" indent="0" marL="0">
              <a:buNone/>
            </a:pPr>
            <a:r>
              <a:rPr lang="en-US" sz="1300" b="1" dirty="0">
                <a:solidFill>
                  <a:srgbClr val="FFFFFF"/>
                </a:solidFill>
              </a:rPr>
              <a:t>İbrahim Aşkar</a:t>
            </a:r>
            <a:endParaRPr lang="en-US" sz="1300" dirty="0"/>
          </a:p>
        </p:txBody>
      </p:sp>
      <p:sp>
        <p:nvSpPr>
          <p:cNvPr id="8" name="Shape 6"/>
          <p:cNvSpPr/>
          <p:nvPr/>
        </p:nvSpPr>
        <p:spPr>
          <a:xfrm>
            <a:off x="1371600" y="4343400"/>
            <a:ext cx="1097280" cy="164592"/>
          </a:xfrm>
          <a:prstGeom prst="rect">
            <a:avLst/>
          </a:prstGeom>
          <a:solidFill>
            <a:srgbClr val="F4B942"/>
          </a:solidFill>
          <a:ln w="12700">
            <a:solidFill>
              <a:srgbClr val="F4B942"/>
            </a:solidFill>
            <a:prstDash val="solid"/>
          </a:ln>
        </p:spPr>
      </p:sp>
      <p:sp>
        <p:nvSpPr>
          <p:cNvPr id="9" name="Text 7"/>
          <p:cNvSpPr/>
          <p:nvPr/>
        </p:nvSpPr>
        <p:spPr>
          <a:xfrm>
            <a:off x="914400" y="4553712"/>
            <a:ext cx="2011680" cy="274320"/>
          </a:xfrm>
          <a:prstGeom prst="rect">
            <a:avLst/>
          </a:prstGeom>
          <a:noFill/>
          <a:ln/>
        </p:spPr>
        <p:txBody>
          <a:bodyPr wrap="square" rtlCol="0" anchor="ctr"/>
          <a:lstStyle/>
          <a:p>
            <a:pPr algn="ctr" indent="0" marL="0">
              <a:buNone/>
            </a:pPr>
            <a:r>
              <a:rPr lang="en-US" sz="1000" dirty="0">
                <a:solidFill>
                  <a:srgbClr val="9BB5C0"/>
                </a:solidFill>
              </a:rPr>
              <a:t>Slender Rod</a:t>
            </a:r>
            <a:endParaRPr lang="en-US" sz="1000" dirty="0"/>
          </a:p>
        </p:txBody>
      </p:sp>
      <p:sp>
        <p:nvSpPr>
          <p:cNvPr id="10" name="Shape 8"/>
          <p:cNvSpPr/>
          <p:nvPr/>
        </p:nvSpPr>
        <p:spPr>
          <a:xfrm>
            <a:off x="6675120" y="4206240"/>
            <a:ext cx="411480" cy="411480"/>
          </a:xfrm>
          <a:prstGeom prst="ellipse">
            <a:avLst/>
          </a:prstGeom>
          <a:solidFill>
            <a:srgbClr val="2EB5C9"/>
          </a:solidFill>
          <a:ln w="12700">
            <a:solidFill>
              <a:srgbClr val="FFFFFF"/>
            </a:solidFill>
            <a:prstDash val="solid"/>
          </a:ln>
        </p:spPr>
      </p:sp>
      <p:sp>
        <p:nvSpPr>
          <p:cNvPr id="11" name="Text 9"/>
          <p:cNvSpPr/>
          <p:nvPr/>
        </p:nvSpPr>
        <p:spPr>
          <a:xfrm>
            <a:off x="6309360" y="4663440"/>
            <a:ext cx="1143000" cy="274320"/>
          </a:xfrm>
          <a:prstGeom prst="rect">
            <a:avLst/>
          </a:prstGeom>
          <a:noFill/>
          <a:ln/>
        </p:spPr>
        <p:txBody>
          <a:bodyPr wrap="square" rtlCol="0" anchor="ctr"/>
          <a:lstStyle/>
          <a:p>
            <a:pPr algn="ctr" indent="0" marL="0">
              <a:buNone/>
            </a:pPr>
            <a:r>
              <a:rPr lang="en-US" sz="1000" dirty="0">
                <a:solidFill>
                  <a:srgbClr val="9BB5C0"/>
                </a:solidFill>
              </a:rPr>
              <a:t>Shot Put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457200" y="137160"/>
            <a:ext cx="8229600" cy="548640"/>
          </a:xfrm>
          <a:prstGeom prst="rect">
            <a:avLst/>
          </a:prstGeom>
          <a:noFill/>
          <a:ln/>
        </p:spPr>
        <p:txBody>
          <a:bodyPr wrap="square" lIns="0" tIns="0" rIns="0" bIns="0" rtlCol="0" anchor="ctr"/>
          <a:lstStyle/>
          <a:p>
            <a:pPr indent="0" marL="0">
              <a:buNone/>
            </a:pPr>
            <a:r>
              <a:rPr lang="en-US" sz="2200" b="1" dirty="0">
                <a:solidFill>
                  <a:srgbClr val="FFFFFF"/>
                </a:solidFill>
              </a:rPr>
              <a:t>MOTIVATION &amp; APPROACH</a:t>
            </a:r>
            <a:endParaRPr lang="en-US" sz="2200" dirty="0"/>
          </a:p>
        </p:txBody>
      </p:sp>
      <p:sp>
        <p:nvSpPr>
          <p:cNvPr id="4" name="Shape 2"/>
          <p:cNvSpPr/>
          <p:nvPr/>
        </p:nvSpPr>
        <p:spPr>
          <a:xfrm>
            <a:off x="274320" y="1005840"/>
            <a:ext cx="2834640" cy="3566160"/>
          </a:xfrm>
          <a:prstGeom prst="roundRect">
            <a:avLst>
              <a:gd name="adj" fmla="val 3226"/>
            </a:avLst>
          </a:prstGeom>
          <a:solidFill>
            <a:srgbClr val="FFFFFF"/>
          </a:solidFill>
          <a:ln/>
          <a:effectLst>
            <a:outerShdw sx="100000" sy="100000" kx="0" ky="0" algn="bl" rotWithShape="0" blurRad="101600" dist="38100" dir="2700000">
              <a:srgbClr val="000000">
                <a:alpha val="13000"/>
              </a:srgbClr>
            </a:outerShdw>
          </a:effectLst>
        </p:spPr>
      </p:sp>
      <p:sp>
        <p:nvSpPr>
          <p:cNvPr id="5" name="Shape 3"/>
          <p:cNvSpPr/>
          <p:nvPr/>
        </p:nvSpPr>
        <p:spPr>
          <a:xfrm>
            <a:off x="1280160" y="1097280"/>
            <a:ext cx="822960" cy="822960"/>
          </a:xfrm>
          <a:prstGeom prst="ellipse">
            <a:avLst/>
          </a:prstGeom>
          <a:solidFill>
            <a:srgbClr val="1B7F8E"/>
          </a:solidFill>
          <a:ln w="12700">
            <a:solidFill>
              <a:srgbClr val="1B7F8E"/>
            </a:solidFill>
            <a:prstDash val="solid"/>
          </a:ln>
        </p:spPr>
      </p:sp>
      <p:sp>
        <p:nvSpPr>
          <p:cNvPr id="6" name="Text 4"/>
          <p:cNvSpPr/>
          <p:nvPr/>
        </p:nvSpPr>
        <p:spPr>
          <a:xfrm>
            <a:off x="1280160" y="1097280"/>
            <a:ext cx="822960" cy="822960"/>
          </a:xfrm>
          <a:prstGeom prst="rect">
            <a:avLst/>
          </a:prstGeom>
          <a:noFill/>
          <a:ln/>
        </p:spPr>
        <p:txBody>
          <a:bodyPr wrap="square" rtlCol="0" anchor="ctr"/>
          <a:lstStyle/>
          <a:p>
            <a:pPr algn="ctr" indent="0" marL="0">
              <a:buNone/>
            </a:pPr>
            <a:r>
              <a:rPr lang="en-US" sz="2000" dirty="0">
                <a:solidFill>
                  <a:srgbClr val="FFFFFF"/>
                </a:solidFill>
              </a:rPr>
              <a:t>?</a:t>
            </a:r>
            <a:endParaRPr lang="en-US" sz="2000" dirty="0"/>
          </a:p>
        </p:txBody>
      </p:sp>
      <p:sp>
        <p:nvSpPr>
          <p:cNvPr id="7" name="Text 5"/>
          <p:cNvSpPr/>
          <p:nvPr/>
        </p:nvSpPr>
        <p:spPr>
          <a:xfrm>
            <a:off x="411480" y="2057400"/>
            <a:ext cx="2560320" cy="457200"/>
          </a:xfrm>
          <a:prstGeom prst="rect">
            <a:avLst/>
          </a:prstGeom>
          <a:noFill/>
          <a:ln/>
        </p:spPr>
        <p:txBody>
          <a:bodyPr wrap="square" rtlCol="0" anchor="ctr"/>
          <a:lstStyle/>
          <a:p>
            <a:pPr algn="ctr" indent="0" marL="0">
              <a:buNone/>
            </a:pPr>
            <a:r>
              <a:rPr lang="en-US" sz="1500" b="1" dirty="0">
                <a:solidFill>
                  <a:srgbClr val="0D1B2A"/>
                </a:solidFill>
              </a:rPr>
              <a:t>The Problem</a:t>
            </a:r>
            <a:endParaRPr lang="en-US" sz="1500" dirty="0"/>
          </a:p>
        </p:txBody>
      </p:sp>
      <p:sp>
        <p:nvSpPr>
          <p:cNvPr id="8" name="Text 6"/>
          <p:cNvSpPr/>
          <p:nvPr/>
        </p:nvSpPr>
        <p:spPr>
          <a:xfrm>
            <a:off x="411480" y="2606040"/>
            <a:ext cx="2560320" cy="1828800"/>
          </a:xfrm>
          <a:prstGeom prst="rect">
            <a:avLst/>
          </a:prstGeom>
          <a:noFill/>
          <a:ln/>
        </p:spPr>
        <p:txBody>
          <a:bodyPr wrap="square" rtlCol="0" anchor="t"/>
          <a:lstStyle/>
          <a:p>
            <a:pPr algn="ctr" indent="0" marL="0">
              <a:buNone/>
            </a:pPr>
            <a:r>
              <a:rPr lang="en-US" sz="1200" dirty="0">
                <a:solidFill>
                  <a:srgbClr val="1A2E3B"/>
                </a:solidFill>
              </a:rPr>
              <a:t>Quadratic drag yields coupled nonlinear ODEs — no closed-form solution exists for realistic trajectories.</a:t>
            </a:r>
            <a:endParaRPr lang="en-US" sz="1200" dirty="0"/>
          </a:p>
        </p:txBody>
      </p:sp>
      <p:sp>
        <p:nvSpPr>
          <p:cNvPr id="9" name="Shape 7"/>
          <p:cNvSpPr/>
          <p:nvPr/>
        </p:nvSpPr>
        <p:spPr>
          <a:xfrm>
            <a:off x="3319272" y="1005840"/>
            <a:ext cx="2834640" cy="3566160"/>
          </a:xfrm>
          <a:prstGeom prst="roundRect">
            <a:avLst>
              <a:gd name="adj" fmla="val 3226"/>
            </a:avLst>
          </a:prstGeom>
          <a:solidFill>
            <a:srgbClr val="FFFFFF"/>
          </a:solidFill>
          <a:ln/>
          <a:effectLst>
            <a:outerShdw sx="100000" sy="100000" kx="0" ky="0" algn="bl" rotWithShape="0" blurRad="101600" dist="38100" dir="2700000">
              <a:srgbClr val="000000">
                <a:alpha val="13000"/>
              </a:srgbClr>
            </a:outerShdw>
          </a:effectLst>
        </p:spPr>
      </p:sp>
      <p:sp>
        <p:nvSpPr>
          <p:cNvPr id="10" name="Shape 8"/>
          <p:cNvSpPr/>
          <p:nvPr/>
        </p:nvSpPr>
        <p:spPr>
          <a:xfrm>
            <a:off x="4325112" y="1097280"/>
            <a:ext cx="822960" cy="822960"/>
          </a:xfrm>
          <a:prstGeom prst="ellipse">
            <a:avLst/>
          </a:prstGeom>
          <a:solidFill>
            <a:srgbClr val="1B7F8E"/>
          </a:solidFill>
          <a:ln w="12700">
            <a:solidFill>
              <a:srgbClr val="1B7F8E"/>
            </a:solidFill>
            <a:prstDash val="solid"/>
          </a:ln>
        </p:spPr>
      </p:sp>
      <p:sp>
        <p:nvSpPr>
          <p:cNvPr id="11" name="Text 9"/>
          <p:cNvSpPr/>
          <p:nvPr/>
        </p:nvSpPr>
        <p:spPr>
          <a:xfrm>
            <a:off x="4325112" y="1097280"/>
            <a:ext cx="822960" cy="822960"/>
          </a:xfrm>
          <a:prstGeom prst="rect">
            <a:avLst/>
          </a:prstGeom>
          <a:noFill/>
          <a:ln/>
        </p:spPr>
        <p:txBody>
          <a:bodyPr wrap="square" rtlCol="0" anchor="ctr"/>
          <a:lstStyle/>
          <a:p>
            <a:pPr algn="ctr" indent="0" marL="0">
              <a:buNone/>
            </a:pPr>
            <a:r>
              <a:rPr lang="en-US" sz="2000" dirty="0">
                <a:solidFill>
                  <a:srgbClr val="FFFFFF"/>
                </a:solidFill>
              </a:rPr>
              <a:t>⇄</a:t>
            </a:r>
            <a:endParaRPr lang="en-US" sz="2000" dirty="0"/>
          </a:p>
        </p:txBody>
      </p:sp>
      <p:sp>
        <p:nvSpPr>
          <p:cNvPr id="12" name="Text 10"/>
          <p:cNvSpPr/>
          <p:nvPr/>
        </p:nvSpPr>
        <p:spPr>
          <a:xfrm>
            <a:off x="3456432" y="2057400"/>
            <a:ext cx="2560320" cy="457200"/>
          </a:xfrm>
          <a:prstGeom prst="rect">
            <a:avLst/>
          </a:prstGeom>
          <a:noFill/>
          <a:ln/>
        </p:spPr>
        <p:txBody>
          <a:bodyPr wrap="square" rtlCol="0" anchor="ctr"/>
          <a:lstStyle/>
          <a:p>
            <a:pPr algn="ctr" indent="0" marL="0">
              <a:buNone/>
            </a:pPr>
            <a:r>
              <a:rPr lang="en-US" sz="1500" b="1" dirty="0">
                <a:solidFill>
                  <a:srgbClr val="0D1B2A"/>
                </a:solidFill>
              </a:rPr>
              <a:t>Two Approaches</a:t>
            </a:r>
            <a:endParaRPr lang="en-US" sz="1500" dirty="0"/>
          </a:p>
        </p:txBody>
      </p:sp>
      <p:sp>
        <p:nvSpPr>
          <p:cNvPr id="13" name="Text 11"/>
          <p:cNvSpPr/>
          <p:nvPr/>
        </p:nvSpPr>
        <p:spPr>
          <a:xfrm>
            <a:off x="3456432" y="2606040"/>
            <a:ext cx="2560320" cy="1828800"/>
          </a:xfrm>
          <a:prstGeom prst="rect">
            <a:avLst/>
          </a:prstGeom>
          <a:noFill/>
          <a:ln/>
        </p:spPr>
        <p:txBody>
          <a:bodyPr wrap="square" rtlCol="0" anchor="t"/>
          <a:lstStyle/>
          <a:p>
            <a:pPr algn="ctr" indent="0" marL="0">
              <a:buNone/>
            </a:pPr>
            <a:r>
              <a:rPr lang="en-US" sz="1200" dirty="0">
                <a:solidFill>
                  <a:srgbClr val="1A2E3B"/>
                </a:solidFill>
              </a:rPr>
              <a:t>RK4 (full nonlinear) vs. First-order perturbation (linearized at launch speed v₀).</a:t>
            </a:r>
            <a:endParaRPr lang="en-US" sz="1200" dirty="0"/>
          </a:p>
        </p:txBody>
      </p:sp>
      <p:sp>
        <p:nvSpPr>
          <p:cNvPr id="14" name="Shape 12"/>
          <p:cNvSpPr/>
          <p:nvPr/>
        </p:nvSpPr>
        <p:spPr>
          <a:xfrm>
            <a:off x="6364224" y="1005840"/>
            <a:ext cx="2834640" cy="3566160"/>
          </a:xfrm>
          <a:prstGeom prst="roundRect">
            <a:avLst>
              <a:gd name="adj" fmla="val 3226"/>
            </a:avLst>
          </a:prstGeom>
          <a:solidFill>
            <a:srgbClr val="FFFFFF"/>
          </a:solidFill>
          <a:ln/>
          <a:effectLst>
            <a:outerShdw sx="100000" sy="100000" kx="0" ky="0" algn="bl" rotWithShape="0" blurRad="101600" dist="38100" dir="2700000">
              <a:srgbClr val="000000">
                <a:alpha val="13000"/>
              </a:srgbClr>
            </a:outerShdw>
          </a:effectLst>
        </p:spPr>
      </p:sp>
      <p:sp>
        <p:nvSpPr>
          <p:cNvPr id="15" name="Shape 13"/>
          <p:cNvSpPr/>
          <p:nvPr/>
        </p:nvSpPr>
        <p:spPr>
          <a:xfrm>
            <a:off x="7370064" y="1097280"/>
            <a:ext cx="822960" cy="822960"/>
          </a:xfrm>
          <a:prstGeom prst="ellipse">
            <a:avLst/>
          </a:prstGeom>
          <a:solidFill>
            <a:srgbClr val="1B7F8E"/>
          </a:solidFill>
          <a:ln w="12700">
            <a:solidFill>
              <a:srgbClr val="1B7F8E"/>
            </a:solidFill>
            <a:prstDash val="solid"/>
          </a:ln>
        </p:spPr>
      </p:sp>
      <p:sp>
        <p:nvSpPr>
          <p:cNvPr id="16" name="Text 14"/>
          <p:cNvSpPr/>
          <p:nvPr/>
        </p:nvSpPr>
        <p:spPr>
          <a:xfrm>
            <a:off x="7370064" y="1097280"/>
            <a:ext cx="822960" cy="822960"/>
          </a:xfrm>
          <a:prstGeom prst="rect">
            <a:avLst/>
          </a:prstGeom>
          <a:noFill/>
          <a:ln/>
        </p:spPr>
        <p:txBody>
          <a:bodyPr wrap="square" rtlCol="0" anchor="ctr"/>
          <a:lstStyle/>
          <a:p>
            <a:pPr algn="ctr" indent="0" marL="0">
              <a:buNone/>
            </a:pPr>
            <a:r>
              <a:rPr lang="en-US" sz="2000" dirty="0">
                <a:solidFill>
                  <a:srgbClr val="FFFFFF"/>
                </a:solidFill>
              </a:rPr>
              <a:t>✓</a:t>
            </a:r>
            <a:endParaRPr lang="en-US" sz="2000" dirty="0"/>
          </a:p>
        </p:txBody>
      </p:sp>
      <p:sp>
        <p:nvSpPr>
          <p:cNvPr id="17" name="Text 15"/>
          <p:cNvSpPr/>
          <p:nvPr/>
        </p:nvSpPr>
        <p:spPr>
          <a:xfrm>
            <a:off x="6501384" y="2057400"/>
            <a:ext cx="2560320" cy="457200"/>
          </a:xfrm>
          <a:prstGeom prst="rect">
            <a:avLst/>
          </a:prstGeom>
          <a:noFill/>
          <a:ln/>
        </p:spPr>
        <p:txBody>
          <a:bodyPr wrap="square" rtlCol="0" anchor="ctr"/>
          <a:lstStyle/>
          <a:p>
            <a:pPr algn="ctr" indent="0" marL="0">
              <a:buNone/>
            </a:pPr>
            <a:r>
              <a:rPr lang="en-US" sz="1500" b="1" dirty="0">
                <a:solidFill>
                  <a:srgbClr val="0D1B2A"/>
                </a:solidFill>
              </a:rPr>
              <a:t>Our Framework</a:t>
            </a:r>
            <a:endParaRPr lang="en-US" sz="1500" dirty="0"/>
          </a:p>
        </p:txBody>
      </p:sp>
      <p:sp>
        <p:nvSpPr>
          <p:cNvPr id="18" name="Text 16"/>
          <p:cNvSpPr/>
          <p:nvPr/>
        </p:nvSpPr>
        <p:spPr>
          <a:xfrm>
            <a:off x="6501384" y="2606040"/>
            <a:ext cx="2560320" cy="1828800"/>
          </a:xfrm>
          <a:prstGeom prst="rect">
            <a:avLst/>
          </a:prstGeom>
          <a:noFill/>
          <a:ln/>
        </p:spPr>
        <p:txBody>
          <a:bodyPr wrap="square" rtlCol="0" anchor="t"/>
          <a:lstStyle/>
          <a:p>
            <a:pPr algn="ctr" indent="0" marL="0">
              <a:buNone/>
            </a:pPr>
            <a:r>
              <a:rPr lang="en-US" sz="1200" dirty="0">
                <a:solidFill>
                  <a:srgbClr val="1A2E3B"/>
                </a:solidFill>
              </a:rPr>
              <a:t>Within-system analysis: each object tested against itself. Strictly isolates mathematical differences.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7F8E"/>
          </a:solidFill>
          <a:ln w="12700">
            <a:solidFill>
              <a:srgbClr val="1B7F8E"/>
            </a:solidFill>
            <a:prstDash val="solid"/>
          </a:ln>
        </p:spPr>
      </p:sp>
      <p:sp>
        <p:nvSpPr>
          <p:cNvPr id="3" name="Text 1"/>
          <p:cNvSpPr/>
          <p:nvPr/>
        </p:nvSpPr>
        <p:spPr>
          <a:xfrm>
            <a:off x="457200" y="137160"/>
            <a:ext cx="8229600" cy="548640"/>
          </a:xfrm>
          <a:prstGeom prst="rect">
            <a:avLst/>
          </a:prstGeom>
          <a:noFill/>
          <a:ln/>
        </p:spPr>
        <p:txBody>
          <a:bodyPr wrap="square" lIns="0" tIns="0" rIns="0" bIns="0" rtlCol="0" anchor="ctr"/>
          <a:lstStyle/>
          <a:p>
            <a:pPr indent="0" marL="0">
              <a:buNone/>
            </a:pPr>
            <a:r>
              <a:rPr lang="en-US" sz="2200" b="1" dirty="0">
                <a:solidFill>
                  <a:srgbClr val="FFFFFF"/>
                </a:solidFill>
              </a:rPr>
              <a:t>PERTURBATION METHOD — KEY STEPS</a:t>
            </a:r>
            <a:endParaRPr lang="en-US" sz="2200" dirty="0"/>
          </a:p>
        </p:txBody>
      </p:sp>
      <p:sp>
        <p:nvSpPr>
          <p:cNvPr id="4" name="Shape 2"/>
          <p:cNvSpPr/>
          <p:nvPr/>
        </p:nvSpPr>
        <p:spPr>
          <a:xfrm>
            <a:off x="274320" y="960120"/>
            <a:ext cx="4160520" cy="1828800"/>
          </a:xfrm>
          <a:prstGeom prst="roundRect">
            <a:avLst>
              <a:gd name="adj" fmla="val 5000"/>
            </a:avLst>
          </a:prstGeom>
          <a:solidFill>
            <a:srgbClr val="FFFFFF"/>
          </a:solidFill>
          <a:ln/>
          <a:effectLst>
            <a:outerShdw sx="100000" sy="100000" kx="0" ky="0" algn="bl" rotWithShape="0" blurRad="101600" dist="38100" dir="2700000">
              <a:srgbClr val="000000">
                <a:alpha val="13000"/>
              </a:srgbClr>
            </a:outerShdw>
          </a:effectLst>
        </p:spPr>
      </p:sp>
      <p:sp>
        <p:nvSpPr>
          <p:cNvPr id="5" name="Shape 3"/>
          <p:cNvSpPr/>
          <p:nvPr/>
        </p:nvSpPr>
        <p:spPr>
          <a:xfrm>
            <a:off x="411480" y="1097280"/>
            <a:ext cx="502920" cy="502920"/>
          </a:xfrm>
          <a:prstGeom prst="ellipse">
            <a:avLst/>
          </a:prstGeom>
          <a:solidFill>
            <a:srgbClr val="0D1B2A"/>
          </a:solidFill>
          <a:ln w="12700">
            <a:solidFill>
              <a:srgbClr val="0D1B2A"/>
            </a:solidFill>
            <a:prstDash val="solid"/>
          </a:ln>
        </p:spPr>
      </p:sp>
      <p:sp>
        <p:nvSpPr>
          <p:cNvPr id="6" name="Text 4"/>
          <p:cNvSpPr/>
          <p:nvPr/>
        </p:nvSpPr>
        <p:spPr>
          <a:xfrm>
            <a:off x="411480" y="1097280"/>
            <a:ext cx="502920" cy="502920"/>
          </a:xfrm>
          <a:prstGeom prst="rect">
            <a:avLst/>
          </a:prstGeom>
          <a:noFill/>
          <a:ln/>
        </p:spPr>
        <p:txBody>
          <a:bodyPr wrap="square" rtlCol="0" anchor="ctr"/>
          <a:lstStyle/>
          <a:p>
            <a:pPr algn="ctr" indent="0" marL="0">
              <a:buNone/>
            </a:pPr>
            <a:r>
              <a:rPr lang="en-US" sz="1600" b="1" dirty="0">
                <a:solidFill>
                  <a:srgbClr val="FFFFFF"/>
                </a:solidFill>
              </a:rPr>
              <a:t>1</a:t>
            </a:r>
            <a:endParaRPr lang="en-US" sz="1600" dirty="0"/>
          </a:p>
        </p:txBody>
      </p:sp>
      <p:sp>
        <p:nvSpPr>
          <p:cNvPr id="7" name="Text 5"/>
          <p:cNvSpPr/>
          <p:nvPr/>
        </p:nvSpPr>
        <p:spPr>
          <a:xfrm>
            <a:off x="1005840" y="1124712"/>
            <a:ext cx="3291840" cy="411480"/>
          </a:xfrm>
          <a:prstGeom prst="rect">
            <a:avLst/>
          </a:prstGeom>
          <a:noFill/>
          <a:ln/>
        </p:spPr>
        <p:txBody>
          <a:bodyPr wrap="square" lIns="0" tIns="0" rIns="0" bIns="0" rtlCol="0" anchor="ctr"/>
          <a:lstStyle/>
          <a:p>
            <a:pPr indent="0" marL="0">
              <a:buNone/>
            </a:pPr>
            <a:r>
              <a:rPr lang="en-US" sz="1300" b="1" dirty="0">
                <a:solidFill>
                  <a:srgbClr val="1B7F8E"/>
                </a:solidFill>
              </a:rPr>
              <a:t>Linearize Drag at v₀</a:t>
            </a:r>
            <a:endParaRPr lang="en-US" sz="1300" dirty="0"/>
          </a:p>
        </p:txBody>
      </p:sp>
      <p:sp>
        <p:nvSpPr>
          <p:cNvPr id="8" name="Text 6"/>
          <p:cNvSpPr/>
          <p:nvPr/>
        </p:nvSpPr>
        <p:spPr>
          <a:xfrm>
            <a:off x="411480" y="1645920"/>
            <a:ext cx="3886200" cy="1005840"/>
          </a:xfrm>
          <a:prstGeom prst="rect">
            <a:avLst/>
          </a:prstGeom>
          <a:noFill/>
          <a:ln/>
        </p:spPr>
        <p:txBody>
          <a:bodyPr wrap="square" rtlCol="0" anchor="ctr"/>
          <a:lstStyle/>
          <a:p>
            <a:pPr indent="0" marL="0">
              <a:buNone/>
            </a:pPr>
            <a:r>
              <a:rPr lang="en-US" sz="1150" dirty="0">
                <a:solidFill>
                  <a:srgbClr val="1A2E3B"/>
                </a:solidFill>
              </a:rPr>
              <a:t>Approximate |v| ≈ v₀ at launch → linear drag γ = ε·v₀, where ε = ρCdA / 2m (units: m⁻¹)</a:t>
            </a:r>
            <a:endParaRPr lang="en-US" sz="1150" dirty="0"/>
          </a:p>
        </p:txBody>
      </p:sp>
      <p:sp>
        <p:nvSpPr>
          <p:cNvPr id="9" name="Shape 7"/>
          <p:cNvSpPr/>
          <p:nvPr/>
        </p:nvSpPr>
        <p:spPr>
          <a:xfrm>
            <a:off x="4709160" y="960120"/>
            <a:ext cx="4160520" cy="1828800"/>
          </a:xfrm>
          <a:prstGeom prst="roundRect">
            <a:avLst>
              <a:gd name="adj" fmla="val 5000"/>
            </a:avLst>
          </a:prstGeom>
          <a:solidFill>
            <a:srgbClr val="FFFFFF"/>
          </a:solidFill>
          <a:ln/>
          <a:effectLst>
            <a:outerShdw sx="100000" sy="100000" kx="0" ky="0" algn="bl" rotWithShape="0" blurRad="101600" dist="38100" dir="2700000">
              <a:srgbClr val="000000">
                <a:alpha val="13000"/>
              </a:srgbClr>
            </a:outerShdw>
          </a:effectLst>
        </p:spPr>
      </p:sp>
      <p:sp>
        <p:nvSpPr>
          <p:cNvPr id="10" name="Shape 8"/>
          <p:cNvSpPr/>
          <p:nvPr/>
        </p:nvSpPr>
        <p:spPr>
          <a:xfrm>
            <a:off x="4846320" y="1097280"/>
            <a:ext cx="502920" cy="502920"/>
          </a:xfrm>
          <a:prstGeom prst="ellipse">
            <a:avLst/>
          </a:prstGeom>
          <a:solidFill>
            <a:srgbClr val="0D1B2A"/>
          </a:solidFill>
          <a:ln w="12700">
            <a:solidFill>
              <a:srgbClr val="0D1B2A"/>
            </a:solidFill>
            <a:prstDash val="solid"/>
          </a:ln>
        </p:spPr>
      </p:sp>
      <p:sp>
        <p:nvSpPr>
          <p:cNvPr id="11" name="Text 9"/>
          <p:cNvSpPr/>
          <p:nvPr/>
        </p:nvSpPr>
        <p:spPr>
          <a:xfrm>
            <a:off x="4846320" y="1097280"/>
            <a:ext cx="502920" cy="502920"/>
          </a:xfrm>
          <a:prstGeom prst="rect">
            <a:avLst/>
          </a:prstGeom>
          <a:noFill/>
          <a:ln/>
        </p:spPr>
        <p:txBody>
          <a:bodyPr wrap="square" rtlCol="0" anchor="ctr"/>
          <a:lstStyle/>
          <a:p>
            <a:pPr algn="ctr" indent="0" marL="0">
              <a:buNone/>
            </a:pPr>
            <a:r>
              <a:rPr lang="en-US" sz="1600" b="1" dirty="0">
                <a:solidFill>
                  <a:srgbClr val="FFFFFF"/>
                </a:solidFill>
              </a:rPr>
              <a:t>2</a:t>
            </a:r>
            <a:endParaRPr lang="en-US" sz="1600" dirty="0"/>
          </a:p>
        </p:txBody>
      </p:sp>
      <p:sp>
        <p:nvSpPr>
          <p:cNvPr id="12" name="Text 10"/>
          <p:cNvSpPr/>
          <p:nvPr/>
        </p:nvSpPr>
        <p:spPr>
          <a:xfrm>
            <a:off x="5440680" y="1124712"/>
            <a:ext cx="3291840" cy="411480"/>
          </a:xfrm>
          <a:prstGeom prst="rect">
            <a:avLst/>
          </a:prstGeom>
          <a:noFill/>
          <a:ln/>
        </p:spPr>
        <p:txBody>
          <a:bodyPr wrap="square" lIns="0" tIns="0" rIns="0" bIns="0" rtlCol="0" anchor="ctr"/>
          <a:lstStyle/>
          <a:p>
            <a:pPr indent="0" marL="0">
              <a:buNone/>
            </a:pPr>
            <a:r>
              <a:rPr lang="en-US" sz="1300" b="1" dirty="0">
                <a:solidFill>
                  <a:srgbClr val="1B7F8E"/>
                </a:solidFill>
              </a:rPr>
              <a:t>Expand as Power Series</a:t>
            </a:r>
            <a:endParaRPr lang="en-US" sz="1300" dirty="0"/>
          </a:p>
        </p:txBody>
      </p:sp>
      <p:sp>
        <p:nvSpPr>
          <p:cNvPr id="13" name="Text 11"/>
          <p:cNvSpPr/>
          <p:nvPr/>
        </p:nvSpPr>
        <p:spPr>
          <a:xfrm>
            <a:off x="4846320" y="1645920"/>
            <a:ext cx="3886200" cy="1005840"/>
          </a:xfrm>
          <a:prstGeom prst="rect">
            <a:avLst/>
          </a:prstGeom>
          <a:noFill/>
          <a:ln/>
        </p:spPr>
        <p:txBody>
          <a:bodyPr wrap="square" rtlCol="0" anchor="ctr"/>
          <a:lstStyle/>
          <a:p>
            <a:pPr indent="0" marL="0">
              <a:buNone/>
            </a:pPr>
            <a:r>
              <a:rPr lang="en-US" sz="1150" dirty="0">
                <a:solidFill>
                  <a:srgbClr val="1A2E3B"/>
                </a:solidFill>
              </a:rPr>
              <a:t>x(t) = x₀(t) + ε·x₁(t) + O(ε²)</a:t>
            </a:r>
            <a:endParaRPr lang="en-US" sz="1150" dirty="0"/>
          </a:p>
          <a:p>
            <a:pPr indent="0" marL="0">
              <a:buNone/>
            </a:pPr>
            <a:r>
              <a:rPr lang="en-US" sz="1150" dirty="0">
                <a:solidFill>
                  <a:srgbClr val="1A2E3B"/>
                </a:solidFill>
              </a:rPr>
              <a:t>y(t) = y₀(t) + ε·y₁(t) + O(ε²)</a:t>
            </a:r>
            <a:endParaRPr lang="en-US" sz="1150" dirty="0"/>
          </a:p>
        </p:txBody>
      </p:sp>
      <p:sp>
        <p:nvSpPr>
          <p:cNvPr id="14" name="Shape 12"/>
          <p:cNvSpPr/>
          <p:nvPr/>
        </p:nvSpPr>
        <p:spPr>
          <a:xfrm>
            <a:off x="274320" y="2971800"/>
            <a:ext cx="4160520" cy="1828800"/>
          </a:xfrm>
          <a:prstGeom prst="roundRect">
            <a:avLst>
              <a:gd name="adj" fmla="val 5000"/>
            </a:avLst>
          </a:prstGeom>
          <a:solidFill>
            <a:srgbClr val="FFFFFF"/>
          </a:solidFill>
          <a:ln/>
          <a:effectLst>
            <a:outerShdw sx="100000" sy="100000" kx="0" ky="0" algn="bl" rotWithShape="0" blurRad="101600" dist="38100" dir="2700000">
              <a:srgbClr val="000000">
                <a:alpha val="13000"/>
              </a:srgbClr>
            </a:outerShdw>
          </a:effectLst>
        </p:spPr>
      </p:sp>
      <p:sp>
        <p:nvSpPr>
          <p:cNvPr id="15" name="Shape 13"/>
          <p:cNvSpPr/>
          <p:nvPr/>
        </p:nvSpPr>
        <p:spPr>
          <a:xfrm>
            <a:off x="411480" y="3108960"/>
            <a:ext cx="502920" cy="502920"/>
          </a:xfrm>
          <a:prstGeom prst="ellipse">
            <a:avLst/>
          </a:prstGeom>
          <a:solidFill>
            <a:srgbClr val="0D1B2A"/>
          </a:solidFill>
          <a:ln w="12700">
            <a:solidFill>
              <a:srgbClr val="0D1B2A"/>
            </a:solidFill>
            <a:prstDash val="solid"/>
          </a:ln>
        </p:spPr>
      </p:sp>
      <p:sp>
        <p:nvSpPr>
          <p:cNvPr id="16" name="Text 14"/>
          <p:cNvSpPr/>
          <p:nvPr/>
        </p:nvSpPr>
        <p:spPr>
          <a:xfrm>
            <a:off x="411480" y="3108960"/>
            <a:ext cx="502920" cy="502920"/>
          </a:xfrm>
          <a:prstGeom prst="rect">
            <a:avLst/>
          </a:prstGeom>
          <a:noFill/>
          <a:ln/>
        </p:spPr>
        <p:txBody>
          <a:bodyPr wrap="square" rtlCol="0" anchor="ctr"/>
          <a:lstStyle/>
          <a:p>
            <a:pPr algn="ctr" indent="0" marL="0">
              <a:buNone/>
            </a:pPr>
            <a:r>
              <a:rPr lang="en-US" sz="1600" b="1" dirty="0">
                <a:solidFill>
                  <a:srgbClr val="FFFFFF"/>
                </a:solidFill>
              </a:rPr>
              <a:t>3</a:t>
            </a:r>
            <a:endParaRPr lang="en-US" sz="1600" dirty="0"/>
          </a:p>
        </p:txBody>
      </p:sp>
      <p:sp>
        <p:nvSpPr>
          <p:cNvPr id="17" name="Text 15"/>
          <p:cNvSpPr/>
          <p:nvPr/>
        </p:nvSpPr>
        <p:spPr>
          <a:xfrm>
            <a:off x="1005840" y="3136392"/>
            <a:ext cx="3291840" cy="411480"/>
          </a:xfrm>
          <a:prstGeom prst="rect">
            <a:avLst/>
          </a:prstGeom>
          <a:noFill/>
          <a:ln/>
        </p:spPr>
        <p:txBody>
          <a:bodyPr wrap="square" lIns="0" tIns="0" rIns="0" bIns="0" rtlCol="0" anchor="ctr"/>
          <a:lstStyle/>
          <a:p>
            <a:pPr indent="0" marL="0">
              <a:buNone/>
            </a:pPr>
            <a:r>
              <a:rPr lang="en-US" sz="1300" b="1" dirty="0">
                <a:solidFill>
                  <a:srgbClr val="1B7F8E"/>
                </a:solidFill>
              </a:rPr>
              <a:t>Zeroth Order: Vacuum</a:t>
            </a:r>
            <a:endParaRPr lang="en-US" sz="1300" dirty="0"/>
          </a:p>
        </p:txBody>
      </p:sp>
      <p:sp>
        <p:nvSpPr>
          <p:cNvPr id="18" name="Text 16"/>
          <p:cNvSpPr/>
          <p:nvPr/>
        </p:nvSpPr>
        <p:spPr>
          <a:xfrm>
            <a:off x="411480" y="3657600"/>
            <a:ext cx="3886200" cy="1005840"/>
          </a:xfrm>
          <a:prstGeom prst="rect">
            <a:avLst/>
          </a:prstGeom>
          <a:noFill/>
          <a:ln/>
        </p:spPr>
        <p:txBody>
          <a:bodyPr wrap="square" rtlCol="0" anchor="ctr"/>
          <a:lstStyle/>
          <a:p>
            <a:pPr indent="0" marL="0">
              <a:buNone/>
            </a:pPr>
            <a:r>
              <a:rPr lang="en-US" sz="1150" dirty="0">
                <a:solidFill>
                  <a:srgbClr val="1A2E3B"/>
                </a:solidFill>
              </a:rPr>
              <a:t>x₀ = v₀ₓ·t  |  y₀ = v₀ᵧ·t − ½g·t²  (perfect parabola)</a:t>
            </a:r>
            <a:endParaRPr lang="en-US" sz="1150" dirty="0"/>
          </a:p>
        </p:txBody>
      </p:sp>
      <p:sp>
        <p:nvSpPr>
          <p:cNvPr id="19" name="Shape 17"/>
          <p:cNvSpPr/>
          <p:nvPr/>
        </p:nvSpPr>
        <p:spPr>
          <a:xfrm>
            <a:off x="4709160" y="2971800"/>
            <a:ext cx="4160520" cy="1828800"/>
          </a:xfrm>
          <a:prstGeom prst="roundRect">
            <a:avLst>
              <a:gd name="adj" fmla="val 5000"/>
            </a:avLst>
          </a:prstGeom>
          <a:solidFill>
            <a:srgbClr val="FFFFFF"/>
          </a:solidFill>
          <a:ln/>
          <a:effectLst>
            <a:outerShdw sx="100000" sy="100000" kx="0" ky="0" algn="bl" rotWithShape="0" blurRad="101600" dist="38100" dir="2700000">
              <a:srgbClr val="000000">
                <a:alpha val="13000"/>
              </a:srgbClr>
            </a:outerShdw>
          </a:effectLst>
        </p:spPr>
      </p:sp>
      <p:sp>
        <p:nvSpPr>
          <p:cNvPr id="20" name="Shape 18"/>
          <p:cNvSpPr/>
          <p:nvPr/>
        </p:nvSpPr>
        <p:spPr>
          <a:xfrm>
            <a:off x="4846320" y="3108960"/>
            <a:ext cx="502920" cy="502920"/>
          </a:xfrm>
          <a:prstGeom prst="ellipse">
            <a:avLst/>
          </a:prstGeom>
          <a:solidFill>
            <a:srgbClr val="0D1B2A"/>
          </a:solidFill>
          <a:ln w="12700">
            <a:solidFill>
              <a:srgbClr val="0D1B2A"/>
            </a:solidFill>
            <a:prstDash val="solid"/>
          </a:ln>
        </p:spPr>
      </p:sp>
      <p:sp>
        <p:nvSpPr>
          <p:cNvPr id="21" name="Text 19"/>
          <p:cNvSpPr/>
          <p:nvPr/>
        </p:nvSpPr>
        <p:spPr>
          <a:xfrm>
            <a:off x="4846320" y="3108960"/>
            <a:ext cx="502920" cy="502920"/>
          </a:xfrm>
          <a:prstGeom prst="rect">
            <a:avLst/>
          </a:prstGeom>
          <a:noFill/>
          <a:ln/>
        </p:spPr>
        <p:txBody>
          <a:bodyPr wrap="square" rtlCol="0" anchor="ctr"/>
          <a:lstStyle/>
          <a:p>
            <a:pPr algn="ctr" indent="0" marL="0">
              <a:buNone/>
            </a:pPr>
            <a:r>
              <a:rPr lang="en-US" sz="1600" b="1" dirty="0">
                <a:solidFill>
                  <a:srgbClr val="FFFFFF"/>
                </a:solidFill>
              </a:rPr>
              <a:t>4</a:t>
            </a:r>
            <a:endParaRPr lang="en-US" sz="1600" dirty="0"/>
          </a:p>
        </p:txBody>
      </p:sp>
      <p:sp>
        <p:nvSpPr>
          <p:cNvPr id="22" name="Text 20"/>
          <p:cNvSpPr/>
          <p:nvPr/>
        </p:nvSpPr>
        <p:spPr>
          <a:xfrm>
            <a:off x="5440680" y="3136392"/>
            <a:ext cx="3291840" cy="411480"/>
          </a:xfrm>
          <a:prstGeom prst="rect">
            <a:avLst/>
          </a:prstGeom>
          <a:noFill/>
          <a:ln/>
        </p:spPr>
        <p:txBody>
          <a:bodyPr wrap="square" lIns="0" tIns="0" rIns="0" bIns="0" rtlCol="0" anchor="ctr"/>
          <a:lstStyle/>
          <a:p>
            <a:pPr indent="0" marL="0">
              <a:buNone/>
            </a:pPr>
            <a:r>
              <a:rPr lang="en-US" sz="1300" b="1" dirty="0">
                <a:solidFill>
                  <a:srgbClr val="1B7F8E"/>
                </a:solidFill>
              </a:rPr>
              <a:t>First-Order Correction</a:t>
            </a:r>
            <a:endParaRPr lang="en-US" sz="1300" dirty="0"/>
          </a:p>
        </p:txBody>
      </p:sp>
      <p:sp>
        <p:nvSpPr>
          <p:cNvPr id="23" name="Text 21"/>
          <p:cNvSpPr/>
          <p:nvPr/>
        </p:nvSpPr>
        <p:spPr>
          <a:xfrm>
            <a:off x="4846320" y="3657600"/>
            <a:ext cx="3886200" cy="1005840"/>
          </a:xfrm>
          <a:prstGeom prst="rect">
            <a:avLst/>
          </a:prstGeom>
          <a:noFill/>
          <a:ln/>
        </p:spPr>
        <p:txBody>
          <a:bodyPr wrap="square" rtlCol="0" anchor="ctr"/>
          <a:lstStyle/>
          <a:p>
            <a:pPr indent="0" marL="0">
              <a:buNone/>
            </a:pPr>
            <a:r>
              <a:rPr lang="en-US" sz="1150" dirty="0">
                <a:solidFill>
                  <a:srgbClr val="1A2E3B"/>
                </a:solidFill>
              </a:rPr>
              <a:t>x₁ = −½·v₀·v₀ₓ·t²</a:t>
            </a:r>
            <a:endParaRPr lang="en-US" sz="1150" dirty="0"/>
          </a:p>
          <a:p>
            <a:pPr indent="0" marL="0">
              <a:buNone/>
            </a:pPr>
            <a:r>
              <a:rPr lang="en-US" sz="1150" dirty="0">
                <a:solidFill>
                  <a:srgbClr val="1A2E3B"/>
                </a:solidFill>
              </a:rPr>
              <a:t>y₁ = −v₀(½·v₀ᵧ·t² − ⅙·g·t³)</a:t>
            </a:r>
            <a:endParaRPr lang="en-US" sz="1150" dirty="0"/>
          </a:p>
        </p:txBody>
      </p:sp>
      <p:sp>
        <p:nvSpPr>
          <p:cNvPr id="24" name="Shape 22"/>
          <p:cNvSpPr/>
          <p:nvPr/>
        </p:nvSpPr>
        <p:spPr>
          <a:xfrm>
            <a:off x="1371600" y="4617720"/>
            <a:ext cx="6400800" cy="411480"/>
          </a:xfrm>
          <a:prstGeom prst="roundRect">
            <a:avLst>
              <a:gd name="adj" fmla="val 17778"/>
            </a:avLst>
          </a:prstGeom>
          <a:solidFill>
            <a:srgbClr val="F4B942">
              <a:alpha val="70000"/>
            </a:srgbClr>
          </a:solidFill>
          <a:ln w="12700">
            <a:solidFill>
              <a:srgbClr val="F4B942"/>
            </a:solidFill>
            <a:prstDash val="solid"/>
          </a:ln>
        </p:spPr>
      </p:sp>
      <p:sp>
        <p:nvSpPr>
          <p:cNvPr id="25" name="Text 23"/>
          <p:cNvSpPr/>
          <p:nvPr/>
        </p:nvSpPr>
        <p:spPr>
          <a:xfrm>
            <a:off x="1371600" y="4617720"/>
            <a:ext cx="6400800" cy="411480"/>
          </a:xfrm>
          <a:prstGeom prst="rect">
            <a:avLst/>
          </a:prstGeom>
          <a:noFill/>
          <a:ln/>
        </p:spPr>
        <p:txBody>
          <a:bodyPr wrap="square" rtlCol="0" anchor="ctr"/>
          <a:lstStyle/>
          <a:p>
            <a:pPr algn="ctr" indent="0" marL="0">
              <a:buNone/>
            </a:pPr>
            <a:r>
              <a:rPr lang="en-US" sz="1200" b="1" dirty="0">
                <a:solidFill>
                  <a:srgbClr val="0D1B2A"/>
                </a:solidFill>
              </a:rPr>
              <a:t>⚠  Validity Condition:  ε·v₀·T_vac ≪ 1   (simulator warns if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457200" y="137160"/>
            <a:ext cx="8229600" cy="548640"/>
          </a:xfrm>
          <a:prstGeom prst="rect">
            <a:avLst/>
          </a:prstGeom>
          <a:noFill/>
          <a:ln/>
        </p:spPr>
        <p:txBody>
          <a:bodyPr wrap="square" lIns="0" tIns="0" rIns="0" bIns="0" rtlCol="0" anchor="ctr"/>
          <a:lstStyle/>
          <a:p>
            <a:pPr indent="0" marL="0">
              <a:buNone/>
            </a:pPr>
            <a:r>
              <a:rPr lang="en-US" sz="2200" b="1" dirty="0">
                <a:solidFill>
                  <a:srgbClr val="FFFFFF"/>
                </a:solidFill>
              </a:rPr>
              <a:t>THE TWO PHYSICAL SYSTEMS</a:t>
            </a:r>
            <a:endParaRPr lang="en-US" sz="2200" dirty="0"/>
          </a:p>
        </p:txBody>
      </p:sp>
      <p:sp>
        <p:nvSpPr>
          <p:cNvPr id="4" name="Shape 2"/>
          <p:cNvSpPr/>
          <p:nvPr/>
        </p:nvSpPr>
        <p:spPr>
          <a:xfrm>
            <a:off x="274320" y="914400"/>
            <a:ext cx="4023360" cy="4114800"/>
          </a:xfrm>
          <a:prstGeom prst="roundRect">
            <a:avLst>
              <a:gd name="adj" fmla="val 2727"/>
            </a:avLst>
          </a:prstGeom>
          <a:solidFill>
            <a:srgbClr val="FFFFFF"/>
          </a:solidFill>
          <a:ln/>
          <a:effectLst>
            <a:outerShdw sx="100000" sy="100000" kx="0" ky="0" algn="bl" rotWithShape="0" blurRad="101600" dist="38100" dir="2700000">
              <a:srgbClr val="000000">
                <a:alpha val="13000"/>
              </a:srgbClr>
            </a:outerShdw>
          </a:effectLst>
        </p:spPr>
      </p:sp>
      <p:sp>
        <p:nvSpPr>
          <p:cNvPr id="5" name="Shape 3"/>
          <p:cNvSpPr/>
          <p:nvPr/>
        </p:nvSpPr>
        <p:spPr>
          <a:xfrm>
            <a:off x="274320" y="914400"/>
            <a:ext cx="4023360" cy="502920"/>
          </a:xfrm>
          <a:prstGeom prst="rect">
            <a:avLst/>
          </a:prstGeom>
          <a:solidFill>
            <a:srgbClr val="1B7F8E"/>
          </a:solidFill>
          <a:ln w="12700">
            <a:solidFill>
              <a:srgbClr val="1B7F8E"/>
            </a:solidFill>
            <a:prstDash val="solid"/>
          </a:ln>
        </p:spPr>
      </p:sp>
      <p:sp>
        <p:nvSpPr>
          <p:cNvPr id="6" name="Text 4"/>
          <p:cNvSpPr/>
          <p:nvPr/>
        </p:nvSpPr>
        <p:spPr>
          <a:xfrm>
            <a:off x="365760" y="932688"/>
            <a:ext cx="3840480" cy="457200"/>
          </a:xfrm>
          <a:prstGeom prst="rect">
            <a:avLst/>
          </a:prstGeom>
          <a:noFill/>
          <a:ln/>
        </p:spPr>
        <p:txBody>
          <a:bodyPr wrap="square" lIns="0" tIns="0" rIns="0" bIns="0" rtlCol="0" anchor="ctr"/>
          <a:lstStyle/>
          <a:p>
            <a:pPr indent="0" marL="0">
              <a:buNone/>
            </a:pPr>
            <a:r>
              <a:rPr lang="en-US" sz="1300" b="1" dirty="0">
                <a:solidFill>
                  <a:srgbClr val="FFFFFF"/>
                </a:solidFill>
              </a:rPr>
              <a:t>System I — Slender Rod</a:t>
            </a:r>
            <a:endParaRPr lang="en-US" sz="1300" dirty="0"/>
          </a:p>
        </p:txBody>
      </p:sp>
      <p:sp>
        <p:nvSpPr>
          <p:cNvPr id="7" name="Shape 5"/>
          <p:cNvSpPr/>
          <p:nvPr/>
        </p:nvSpPr>
        <p:spPr>
          <a:xfrm>
            <a:off x="320040" y="1508760"/>
            <a:ext cx="3931920" cy="420624"/>
          </a:xfrm>
          <a:prstGeom prst="rect">
            <a:avLst/>
          </a:prstGeom>
          <a:solidFill>
            <a:srgbClr val="F0F4F8"/>
          </a:solidFill>
          <a:ln w="12700">
            <a:solidFill>
              <a:srgbClr val="F0F4F8"/>
            </a:solidFill>
            <a:prstDash val="solid"/>
          </a:ln>
        </p:spPr>
      </p:sp>
      <p:sp>
        <p:nvSpPr>
          <p:cNvPr id="8" name="Text 6"/>
          <p:cNvSpPr/>
          <p:nvPr/>
        </p:nvSpPr>
        <p:spPr>
          <a:xfrm>
            <a:off x="411480" y="1536192"/>
            <a:ext cx="1920240" cy="347472"/>
          </a:xfrm>
          <a:prstGeom prst="rect">
            <a:avLst/>
          </a:prstGeom>
          <a:noFill/>
          <a:ln/>
        </p:spPr>
        <p:txBody>
          <a:bodyPr wrap="square" rtlCol="0" anchor="ctr"/>
          <a:lstStyle/>
          <a:p>
            <a:pPr indent="0" marL="0">
              <a:buNone/>
            </a:pPr>
            <a:r>
              <a:rPr lang="en-US" sz="1150" dirty="0">
                <a:solidFill>
                  <a:srgbClr val="1A2E3B"/>
                </a:solidFill>
              </a:rPr>
              <a:t>Mass m</a:t>
            </a:r>
            <a:endParaRPr lang="en-US" sz="1150" dirty="0"/>
          </a:p>
        </p:txBody>
      </p:sp>
      <p:sp>
        <p:nvSpPr>
          <p:cNvPr id="9" name="Text 7"/>
          <p:cNvSpPr/>
          <p:nvPr/>
        </p:nvSpPr>
        <p:spPr>
          <a:xfrm>
            <a:off x="2331720" y="1536192"/>
            <a:ext cx="1828800" cy="347472"/>
          </a:xfrm>
          <a:prstGeom prst="rect">
            <a:avLst/>
          </a:prstGeom>
          <a:noFill/>
          <a:ln/>
        </p:spPr>
        <p:txBody>
          <a:bodyPr wrap="square" rtlCol="0" anchor="ctr"/>
          <a:lstStyle/>
          <a:p>
            <a:pPr algn="r" indent="0" marL="0">
              <a:buNone/>
            </a:pPr>
            <a:r>
              <a:rPr lang="en-US" sz="1150" b="1" dirty="0">
                <a:solidFill>
                  <a:srgbClr val="0D1B2A"/>
                </a:solidFill>
              </a:rPr>
              <a:t>2.0 kg</a:t>
            </a:r>
            <a:endParaRPr lang="en-US" sz="1150" dirty="0"/>
          </a:p>
        </p:txBody>
      </p:sp>
      <p:sp>
        <p:nvSpPr>
          <p:cNvPr id="10" name="Shape 8"/>
          <p:cNvSpPr/>
          <p:nvPr/>
        </p:nvSpPr>
        <p:spPr>
          <a:xfrm>
            <a:off x="320040" y="1929384"/>
            <a:ext cx="3931920" cy="420624"/>
          </a:xfrm>
          <a:prstGeom prst="rect">
            <a:avLst/>
          </a:prstGeom>
          <a:solidFill>
            <a:srgbClr val="FFFFFF"/>
          </a:solidFill>
          <a:ln w="12700">
            <a:solidFill>
              <a:srgbClr val="FFFFFF"/>
            </a:solidFill>
            <a:prstDash val="solid"/>
          </a:ln>
        </p:spPr>
      </p:sp>
      <p:sp>
        <p:nvSpPr>
          <p:cNvPr id="11" name="Text 9"/>
          <p:cNvSpPr/>
          <p:nvPr/>
        </p:nvSpPr>
        <p:spPr>
          <a:xfrm>
            <a:off x="411480" y="1956816"/>
            <a:ext cx="1920240" cy="347472"/>
          </a:xfrm>
          <a:prstGeom prst="rect">
            <a:avLst/>
          </a:prstGeom>
          <a:noFill/>
          <a:ln/>
        </p:spPr>
        <p:txBody>
          <a:bodyPr wrap="square" rtlCol="0" anchor="ctr"/>
          <a:lstStyle/>
          <a:p>
            <a:pPr indent="0" marL="0">
              <a:buNone/>
            </a:pPr>
            <a:r>
              <a:rPr lang="en-US" sz="1150" dirty="0">
                <a:solidFill>
                  <a:srgbClr val="1A2E3B"/>
                </a:solidFill>
              </a:rPr>
              <a:t>Length L</a:t>
            </a:r>
            <a:endParaRPr lang="en-US" sz="1150" dirty="0"/>
          </a:p>
        </p:txBody>
      </p:sp>
      <p:sp>
        <p:nvSpPr>
          <p:cNvPr id="12" name="Text 10"/>
          <p:cNvSpPr/>
          <p:nvPr/>
        </p:nvSpPr>
        <p:spPr>
          <a:xfrm>
            <a:off x="2331720" y="1956816"/>
            <a:ext cx="1828800" cy="347472"/>
          </a:xfrm>
          <a:prstGeom prst="rect">
            <a:avLst/>
          </a:prstGeom>
          <a:noFill/>
          <a:ln/>
        </p:spPr>
        <p:txBody>
          <a:bodyPr wrap="square" rtlCol="0" anchor="ctr"/>
          <a:lstStyle/>
          <a:p>
            <a:pPr algn="r" indent="0" marL="0">
              <a:buNone/>
            </a:pPr>
            <a:r>
              <a:rPr lang="en-US" sz="1150" b="1" dirty="0">
                <a:solidFill>
                  <a:srgbClr val="0D1B2A"/>
                </a:solidFill>
              </a:rPr>
              <a:t>1.0 m</a:t>
            </a:r>
            <a:endParaRPr lang="en-US" sz="1150" dirty="0"/>
          </a:p>
        </p:txBody>
      </p:sp>
      <p:sp>
        <p:nvSpPr>
          <p:cNvPr id="13" name="Shape 11"/>
          <p:cNvSpPr/>
          <p:nvPr/>
        </p:nvSpPr>
        <p:spPr>
          <a:xfrm>
            <a:off x="320040" y="2350008"/>
            <a:ext cx="3931920" cy="420624"/>
          </a:xfrm>
          <a:prstGeom prst="rect">
            <a:avLst/>
          </a:prstGeom>
          <a:solidFill>
            <a:srgbClr val="F0F4F8"/>
          </a:solidFill>
          <a:ln w="12700">
            <a:solidFill>
              <a:srgbClr val="F0F4F8"/>
            </a:solidFill>
            <a:prstDash val="solid"/>
          </a:ln>
        </p:spPr>
      </p:sp>
      <p:sp>
        <p:nvSpPr>
          <p:cNvPr id="14" name="Text 12"/>
          <p:cNvSpPr/>
          <p:nvPr/>
        </p:nvSpPr>
        <p:spPr>
          <a:xfrm>
            <a:off x="411480" y="2377440"/>
            <a:ext cx="1920240" cy="347472"/>
          </a:xfrm>
          <a:prstGeom prst="rect">
            <a:avLst/>
          </a:prstGeom>
          <a:noFill/>
          <a:ln/>
        </p:spPr>
        <p:txBody>
          <a:bodyPr wrap="square" rtlCol="0" anchor="ctr"/>
          <a:lstStyle/>
          <a:p>
            <a:pPr indent="0" marL="0">
              <a:buNone/>
            </a:pPr>
            <a:r>
              <a:rPr lang="en-US" sz="1150" dirty="0">
                <a:solidFill>
                  <a:srgbClr val="1A2E3B"/>
                </a:solidFill>
              </a:rPr>
              <a:t>Drag coeff. Cd</a:t>
            </a:r>
            <a:endParaRPr lang="en-US" sz="1150" dirty="0"/>
          </a:p>
        </p:txBody>
      </p:sp>
      <p:sp>
        <p:nvSpPr>
          <p:cNvPr id="15" name="Text 13"/>
          <p:cNvSpPr/>
          <p:nvPr/>
        </p:nvSpPr>
        <p:spPr>
          <a:xfrm>
            <a:off x="2331720" y="2377440"/>
            <a:ext cx="1828800" cy="347472"/>
          </a:xfrm>
          <a:prstGeom prst="rect">
            <a:avLst/>
          </a:prstGeom>
          <a:noFill/>
          <a:ln/>
        </p:spPr>
        <p:txBody>
          <a:bodyPr wrap="square" rtlCol="0" anchor="ctr"/>
          <a:lstStyle/>
          <a:p>
            <a:pPr algn="r" indent="0" marL="0">
              <a:buNone/>
            </a:pPr>
            <a:r>
              <a:rPr lang="en-US" sz="1150" b="1" dirty="0">
                <a:solidFill>
                  <a:srgbClr val="0D1B2A"/>
                </a:solidFill>
              </a:rPr>
              <a:t>0.40</a:t>
            </a:r>
            <a:endParaRPr lang="en-US" sz="1150" dirty="0"/>
          </a:p>
        </p:txBody>
      </p:sp>
      <p:sp>
        <p:nvSpPr>
          <p:cNvPr id="16" name="Shape 14"/>
          <p:cNvSpPr/>
          <p:nvPr/>
        </p:nvSpPr>
        <p:spPr>
          <a:xfrm>
            <a:off x="320040" y="2770632"/>
            <a:ext cx="3931920" cy="420624"/>
          </a:xfrm>
          <a:prstGeom prst="rect">
            <a:avLst/>
          </a:prstGeom>
          <a:solidFill>
            <a:srgbClr val="FFFFFF"/>
          </a:solidFill>
          <a:ln w="12700">
            <a:solidFill>
              <a:srgbClr val="FFFFFF"/>
            </a:solidFill>
            <a:prstDash val="solid"/>
          </a:ln>
        </p:spPr>
      </p:sp>
      <p:sp>
        <p:nvSpPr>
          <p:cNvPr id="17" name="Text 15"/>
          <p:cNvSpPr/>
          <p:nvPr/>
        </p:nvSpPr>
        <p:spPr>
          <a:xfrm>
            <a:off x="411480" y="2798064"/>
            <a:ext cx="1920240" cy="347472"/>
          </a:xfrm>
          <a:prstGeom prst="rect">
            <a:avLst/>
          </a:prstGeom>
          <a:noFill/>
          <a:ln/>
        </p:spPr>
        <p:txBody>
          <a:bodyPr wrap="square" rtlCol="0" anchor="ctr"/>
          <a:lstStyle/>
          <a:p>
            <a:pPr indent="0" marL="0">
              <a:buNone/>
            </a:pPr>
            <a:r>
              <a:rPr lang="en-US" sz="1150" dirty="0">
                <a:solidFill>
                  <a:srgbClr val="1A2E3B"/>
                </a:solidFill>
              </a:rPr>
              <a:t>Ref. area A</a:t>
            </a:r>
            <a:endParaRPr lang="en-US" sz="1150" dirty="0"/>
          </a:p>
        </p:txBody>
      </p:sp>
      <p:sp>
        <p:nvSpPr>
          <p:cNvPr id="18" name="Text 16"/>
          <p:cNvSpPr/>
          <p:nvPr/>
        </p:nvSpPr>
        <p:spPr>
          <a:xfrm>
            <a:off x="2331720" y="2798064"/>
            <a:ext cx="1828800" cy="347472"/>
          </a:xfrm>
          <a:prstGeom prst="rect">
            <a:avLst/>
          </a:prstGeom>
          <a:noFill/>
          <a:ln/>
        </p:spPr>
        <p:txBody>
          <a:bodyPr wrap="square" rtlCol="0" anchor="ctr"/>
          <a:lstStyle/>
          <a:p>
            <a:pPr algn="r" indent="0" marL="0">
              <a:buNone/>
            </a:pPr>
            <a:r>
              <a:rPr lang="en-US" sz="1150" b="1" dirty="0">
                <a:solidFill>
                  <a:srgbClr val="0D1B2A"/>
                </a:solidFill>
              </a:rPr>
              <a:t>0.05 m²</a:t>
            </a:r>
            <a:endParaRPr lang="en-US" sz="1150" dirty="0"/>
          </a:p>
        </p:txBody>
      </p:sp>
      <p:sp>
        <p:nvSpPr>
          <p:cNvPr id="19" name="Shape 17"/>
          <p:cNvSpPr/>
          <p:nvPr/>
        </p:nvSpPr>
        <p:spPr>
          <a:xfrm>
            <a:off x="320040" y="3191256"/>
            <a:ext cx="3931920" cy="420624"/>
          </a:xfrm>
          <a:prstGeom prst="rect">
            <a:avLst/>
          </a:prstGeom>
          <a:solidFill>
            <a:srgbClr val="F0F4F8"/>
          </a:solidFill>
          <a:ln w="12700">
            <a:solidFill>
              <a:srgbClr val="F0F4F8"/>
            </a:solidFill>
            <a:prstDash val="solid"/>
          </a:ln>
        </p:spPr>
      </p:sp>
      <p:sp>
        <p:nvSpPr>
          <p:cNvPr id="20" name="Text 18"/>
          <p:cNvSpPr/>
          <p:nvPr/>
        </p:nvSpPr>
        <p:spPr>
          <a:xfrm>
            <a:off x="411480" y="3218688"/>
            <a:ext cx="1920240" cy="347472"/>
          </a:xfrm>
          <a:prstGeom prst="rect">
            <a:avLst/>
          </a:prstGeom>
          <a:noFill/>
          <a:ln/>
        </p:spPr>
        <p:txBody>
          <a:bodyPr wrap="square" rtlCol="0" anchor="ctr"/>
          <a:lstStyle/>
          <a:p>
            <a:pPr indent="0" marL="0">
              <a:buNone/>
            </a:pPr>
            <a:r>
              <a:rPr lang="en-US" sz="1150" dirty="0">
                <a:solidFill>
                  <a:srgbClr val="1A2E3B"/>
                </a:solidFill>
              </a:rPr>
              <a:t>ε (perturbation)</a:t>
            </a:r>
            <a:endParaRPr lang="en-US" sz="1150" dirty="0"/>
          </a:p>
        </p:txBody>
      </p:sp>
      <p:sp>
        <p:nvSpPr>
          <p:cNvPr id="21" name="Text 19"/>
          <p:cNvSpPr/>
          <p:nvPr/>
        </p:nvSpPr>
        <p:spPr>
          <a:xfrm>
            <a:off x="2331720" y="3218688"/>
            <a:ext cx="1828800" cy="347472"/>
          </a:xfrm>
          <a:prstGeom prst="rect">
            <a:avLst/>
          </a:prstGeom>
          <a:noFill/>
          <a:ln/>
        </p:spPr>
        <p:txBody>
          <a:bodyPr wrap="square" rtlCol="0" anchor="ctr"/>
          <a:lstStyle/>
          <a:p>
            <a:pPr algn="r" indent="0" marL="0">
              <a:buNone/>
            </a:pPr>
            <a:r>
              <a:rPr lang="en-US" sz="1150" b="1" dirty="0">
                <a:solidFill>
                  <a:srgbClr val="0D1B2A"/>
                </a:solidFill>
              </a:rPr>
              <a:t>0.006125 m⁻¹</a:t>
            </a:r>
            <a:endParaRPr lang="en-US" sz="1150" dirty="0"/>
          </a:p>
        </p:txBody>
      </p:sp>
      <p:sp>
        <p:nvSpPr>
          <p:cNvPr id="22" name="Shape 20"/>
          <p:cNvSpPr/>
          <p:nvPr/>
        </p:nvSpPr>
        <p:spPr>
          <a:xfrm>
            <a:off x="320040" y="3611880"/>
            <a:ext cx="3931920" cy="420624"/>
          </a:xfrm>
          <a:prstGeom prst="rect">
            <a:avLst/>
          </a:prstGeom>
          <a:solidFill>
            <a:srgbClr val="FFFFFF"/>
          </a:solidFill>
          <a:ln w="12700">
            <a:solidFill>
              <a:srgbClr val="FFFFFF"/>
            </a:solidFill>
            <a:prstDash val="solid"/>
          </a:ln>
        </p:spPr>
      </p:sp>
      <p:sp>
        <p:nvSpPr>
          <p:cNvPr id="23" name="Text 21"/>
          <p:cNvSpPr/>
          <p:nvPr/>
        </p:nvSpPr>
        <p:spPr>
          <a:xfrm>
            <a:off x="411480" y="3639312"/>
            <a:ext cx="1920240" cy="347472"/>
          </a:xfrm>
          <a:prstGeom prst="rect">
            <a:avLst/>
          </a:prstGeom>
          <a:noFill/>
          <a:ln/>
        </p:spPr>
        <p:txBody>
          <a:bodyPr wrap="square" rtlCol="0" anchor="ctr"/>
          <a:lstStyle/>
          <a:p>
            <a:pPr indent="0" marL="0">
              <a:buNone/>
            </a:pPr>
            <a:r>
              <a:rPr lang="en-US" sz="1150" dirty="0">
                <a:solidFill>
                  <a:srgbClr val="1A2E3B"/>
                </a:solidFill>
              </a:rPr>
              <a:t>ε·v₀·T_vac</a:t>
            </a:r>
            <a:endParaRPr lang="en-US" sz="1150" dirty="0"/>
          </a:p>
        </p:txBody>
      </p:sp>
      <p:sp>
        <p:nvSpPr>
          <p:cNvPr id="24" name="Text 22"/>
          <p:cNvSpPr/>
          <p:nvPr/>
        </p:nvSpPr>
        <p:spPr>
          <a:xfrm>
            <a:off x="2331720" y="3639312"/>
            <a:ext cx="1828800" cy="347472"/>
          </a:xfrm>
          <a:prstGeom prst="rect">
            <a:avLst/>
          </a:prstGeom>
          <a:noFill/>
          <a:ln/>
        </p:spPr>
        <p:txBody>
          <a:bodyPr wrap="square" rtlCol="0" anchor="ctr"/>
          <a:lstStyle/>
          <a:p>
            <a:pPr algn="r" indent="0" marL="0">
              <a:buNone/>
            </a:pPr>
            <a:r>
              <a:rPr lang="en-US" sz="1150" b="1" dirty="0">
                <a:solidFill>
                  <a:srgbClr val="E05C4B"/>
                </a:solidFill>
              </a:rPr>
              <a:t>1.0817  ⚠ INVALID</a:t>
            </a:r>
            <a:endParaRPr lang="en-US" sz="1150" dirty="0"/>
          </a:p>
        </p:txBody>
      </p:sp>
      <p:sp>
        <p:nvSpPr>
          <p:cNvPr id="25" name="Shape 23"/>
          <p:cNvSpPr/>
          <p:nvPr/>
        </p:nvSpPr>
        <p:spPr>
          <a:xfrm>
            <a:off x="411480" y="4069080"/>
            <a:ext cx="3749040" cy="685800"/>
          </a:xfrm>
          <a:prstGeom prst="roundRect">
            <a:avLst>
              <a:gd name="adj" fmla="val 10667"/>
            </a:avLst>
          </a:prstGeom>
          <a:solidFill>
            <a:srgbClr val="FFF3E0"/>
          </a:solidFill>
          <a:ln w="12700">
            <a:solidFill>
              <a:srgbClr val="F4B942"/>
            </a:solidFill>
            <a:prstDash val="solid"/>
          </a:ln>
        </p:spPr>
      </p:sp>
      <p:sp>
        <p:nvSpPr>
          <p:cNvPr id="26" name="Text 24"/>
          <p:cNvSpPr/>
          <p:nvPr/>
        </p:nvSpPr>
        <p:spPr>
          <a:xfrm>
            <a:off x="457200" y="4096512"/>
            <a:ext cx="3657600" cy="594360"/>
          </a:xfrm>
          <a:prstGeom prst="rect">
            <a:avLst/>
          </a:prstGeom>
          <a:noFill/>
          <a:ln/>
        </p:spPr>
        <p:txBody>
          <a:bodyPr wrap="square" rtlCol="0" anchor="ctr"/>
          <a:lstStyle/>
          <a:p>
            <a:pPr algn="ctr" indent="0" marL="0">
              <a:buNone/>
            </a:pPr>
            <a:r>
              <a:rPr lang="en-US" sz="1050" i="1" dirty="0">
                <a:solidFill>
                  <a:srgbClr val="1A2E3B"/>
                </a:solidFill>
              </a:rPr>
              <a:t>τ = −½ρCdALv²_rel sin(2φ)  [Munk's theory]</a:t>
            </a:r>
            <a:endParaRPr lang="en-US" sz="1050" dirty="0"/>
          </a:p>
        </p:txBody>
      </p:sp>
      <p:sp>
        <p:nvSpPr>
          <p:cNvPr id="27" name="Shape 25"/>
          <p:cNvSpPr/>
          <p:nvPr/>
        </p:nvSpPr>
        <p:spPr>
          <a:xfrm>
            <a:off x="4846320" y="914400"/>
            <a:ext cx="4023360" cy="4114800"/>
          </a:xfrm>
          <a:prstGeom prst="roundRect">
            <a:avLst>
              <a:gd name="adj" fmla="val 2727"/>
            </a:avLst>
          </a:prstGeom>
          <a:solidFill>
            <a:srgbClr val="FFFFFF"/>
          </a:solidFill>
          <a:ln/>
          <a:effectLst>
            <a:outerShdw sx="100000" sy="100000" kx="0" ky="0" algn="bl" rotWithShape="0" blurRad="101600" dist="38100" dir="2700000">
              <a:srgbClr val="000000">
                <a:alpha val="13000"/>
              </a:srgbClr>
            </a:outerShdw>
          </a:effectLst>
        </p:spPr>
      </p:sp>
      <p:sp>
        <p:nvSpPr>
          <p:cNvPr id="28" name="Shape 26"/>
          <p:cNvSpPr/>
          <p:nvPr/>
        </p:nvSpPr>
        <p:spPr>
          <a:xfrm>
            <a:off x="4846320" y="914400"/>
            <a:ext cx="4023360" cy="502920"/>
          </a:xfrm>
          <a:prstGeom prst="rect">
            <a:avLst/>
          </a:prstGeom>
          <a:solidFill>
            <a:srgbClr val="2EB5C9"/>
          </a:solidFill>
          <a:ln w="12700">
            <a:solidFill>
              <a:srgbClr val="2EB5C9"/>
            </a:solidFill>
            <a:prstDash val="solid"/>
          </a:ln>
        </p:spPr>
      </p:sp>
      <p:sp>
        <p:nvSpPr>
          <p:cNvPr id="29" name="Text 27"/>
          <p:cNvSpPr/>
          <p:nvPr/>
        </p:nvSpPr>
        <p:spPr>
          <a:xfrm>
            <a:off x="4937760" y="932688"/>
            <a:ext cx="3840480" cy="457200"/>
          </a:xfrm>
          <a:prstGeom prst="rect">
            <a:avLst/>
          </a:prstGeom>
          <a:noFill/>
          <a:ln/>
        </p:spPr>
        <p:txBody>
          <a:bodyPr wrap="square" lIns="0" tIns="0" rIns="0" bIns="0" rtlCol="0" anchor="ctr"/>
          <a:lstStyle/>
          <a:p>
            <a:pPr indent="0" marL="0">
              <a:buNone/>
            </a:pPr>
            <a:r>
              <a:rPr lang="en-US" sz="1300" b="1" dirty="0">
                <a:solidFill>
                  <a:srgbClr val="FFFFFF"/>
                </a:solidFill>
              </a:rPr>
              <a:t>System II — Shot Put Ball</a:t>
            </a:r>
            <a:endParaRPr lang="en-US" sz="1300" dirty="0"/>
          </a:p>
        </p:txBody>
      </p:sp>
      <p:sp>
        <p:nvSpPr>
          <p:cNvPr id="30" name="Shape 28"/>
          <p:cNvSpPr/>
          <p:nvPr/>
        </p:nvSpPr>
        <p:spPr>
          <a:xfrm>
            <a:off x="4892040" y="1508760"/>
            <a:ext cx="3931920" cy="420624"/>
          </a:xfrm>
          <a:prstGeom prst="rect">
            <a:avLst/>
          </a:prstGeom>
          <a:solidFill>
            <a:srgbClr val="F0F4F8"/>
          </a:solidFill>
          <a:ln w="12700">
            <a:solidFill>
              <a:srgbClr val="F0F4F8"/>
            </a:solidFill>
            <a:prstDash val="solid"/>
          </a:ln>
        </p:spPr>
      </p:sp>
      <p:sp>
        <p:nvSpPr>
          <p:cNvPr id="31" name="Text 29"/>
          <p:cNvSpPr/>
          <p:nvPr/>
        </p:nvSpPr>
        <p:spPr>
          <a:xfrm>
            <a:off x="4983480" y="1536192"/>
            <a:ext cx="1920240" cy="347472"/>
          </a:xfrm>
          <a:prstGeom prst="rect">
            <a:avLst/>
          </a:prstGeom>
          <a:noFill/>
          <a:ln/>
        </p:spPr>
        <p:txBody>
          <a:bodyPr wrap="square" rtlCol="0" anchor="ctr"/>
          <a:lstStyle/>
          <a:p>
            <a:pPr indent="0" marL="0">
              <a:buNone/>
            </a:pPr>
            <a:r>
              <a:rPr lang="en-US" sz="1150" dirty="0">
                <a:solidFill>
                  <a:srgbClr val="1A2E3B"/>
                </a:solidFill>
              </a:rPr>
              <a:t>Mass m</a:t>
            </a:r>
            <a:endParaRPr lang="en-US" sz="1150" dirty="0"/>
          </a:p>
        </p:txBody>
      </p:sp>
      <p:sp>
        <p:nvSpPr>
          <p:cNvPr id="32" name="Text 30"/>
          <p:cNvSpPr/>
          <p:nvPr/>
        </p:nvSpPr>
        <p:spPr>
          <a:xfrm>
            <a:off x="6903720" y="1536192"/>
            <a:ext cx="1828800" cy="347472"/>
          </a:xfrm>
          <a:prstGeom prst="rect">
            <a:avLst/>
          </a:prstGeom>
          <a:noFill/>
          <a:ln/>
        </p:spPr>
        <p:txBody>
          <a:bodyPr wrap="square" rtlCol="0" anchor="ctr"/>
          <a:lstStyle/>
          <a:p>
            <a:pPr algn="r" indent="0" marL="0">
              <a:buNone/>
            </a:pPr>
            <a:r>
              <a:rPr lang="en-US" sz="1150" b="1" dirty="0">
                <a:solidFill>
                  <a:srgbClr val="0D1B2A"/>
                </a:solidFill>
              </a:rPr>
              <a:t>7.26 kg</a:t>
            </a:r>
            <a:endParaRPr lang="en-US" sz="1150" dirty="0"/>
          </a:p>
        </p:txBody>
      </p:sp>
      <p:sp>
        <p:nvSpPr>
          <p:cNvPr id="33" name="Shape 31"/>
          <p:cNvSpPr/>
          <p:nvPr/>
        </p:nvSpPr>
        <p:spPr>
          <a:xfrm>
            <a:off x="4892040" y="1929384"/>
            <a:ext cx="3931920" cy="420624"/>
          </a:xfrm>
          <a:prstGeom prst="rect">
            <a:avLst/>
          </a:prstGeom>
          <a:solidFill>
            <a:srgbClr val="FFFFFF"/>
          </a:solidFill>
          <a:ln w="12700">
            <a:solidFill>
              <a:srgbClr val="FFFFFF"/>
            </a:solidFill>
            <a:prstDash val="solid"/>
          </a:ln>
        </p:spPr>
      </p:sp>
      <p:sp>
        <p:nvSpPr>
          <p:cNvPr id="34" name="Text 32"/>
          <p:cNvSpPr/>
          <p:nvPr/>
        </p:nvSpPr>
        <p:spPr>
          <a:xfrm>
            <a:off x="4983480" y="1956816"/>
            <a:ext cx="1920240" cy="347472"/>
          </a:xfrm>
          <a:prstGeom prst="rect">
            <a:avLst/>
          </a:prstGeom>
          <a:noFill/>
          <a:ln/>
        </p:spPr>
        <p:txBody>
          <a:bodyPr wrap="square" rtlCol="0" anchor="ctr"/>
          <a:lstStyle/>
          <a:p>
            <a:pPr indent="0" marL="0">
              <a:buNone/>
            </a:pPr>
            <a:r>
              <a:rPr lang="en-US" sz="1150" dirty="0">
                <a:solidFill>
                  <a:srgbClr val="1A2E3B"/>
                </a:solidFill>
              </a:rPr>
              <a:t>Radius r</a:t>
            </a:r>
            <a:endParaRPr lang="en-US" sz="1150" dirty="0"/>
          </a:p>
        </p:txBody>
      </p:sp>
      <p:sp>
        <p:nvSpPr>
          <p:cNvPr id="35" name="Text 33"/>
          <p:cNvSpPr/>
          <p:nvPr/>
        </p:nvSpPr>
        <p:spPr>
          <a:xfrm>
            <a:off x="6903720" y="1956816"/>
            <a:ext cx="1828800" cy="347472"/>
          </a:xfrm>
          <a:prstGeom prst="rect">
            <a:avLst/>
          </a:prstGeom>
          <a:noFill/>
          <a:ln/>
        </p:spPr>
        <p:txBody>
          <a:bodyPr wrap="square" rtlCol="0" anchor="ctr"/>
          <a:lstStyle/>
          <a:p>
            <a:pPr algn="r" indent="0" marL="0">
              <a:buNone/>
            </a:pPr>
            <a:r>
              <a:rPr lang="en-US" sz="1150" b="1" dirty="0">
                <a:solidFill>
                  <a:srgbClr val="0D1B2A"/>
                </a:solidFill>
              </a:rPr>
              <a:t>0.06 m</a:t>
            </a:r>
            <a:endParaRPr lang="en-US" sz="1150" dirty="0"/>
          </a:p>
        </p:txBody>
      </p:sp>
      <p:sp>
        <p:nvSpPr>
          <p:cNvPr id="36" name="Shape 34"/>
          <p:cNvSpPr/>
          <p:nvPr/>
        </p:nvSpPr>
        <p:spPr>
          <a:xfrm>
            <a:off x="4892040" y="2350008"/>
            <a:ext cx="3931920" cy="420624"/>
          </a:xfrm>
          <a:prstGeom prst="rect">
            <a:avLst/>
          </a:prstGeom>
          <a:solidFill>
            <a:srgbClr val="F0F4F8"/>
          </a:solidFill>
          <a:ln w="12700">
            <a:solidFill>
              <a:srgbClr val="F0F4F8"/>
            </a:solidFill>
            <a:prstDash val="solid"/>
          </a:ln>
        </p:spPr>
      </p:sp>
      <p:sp>
        <p:nvSpPr>
          <p:cNvPr id="37" name="Text 35"/>
          <p:cNvSpPr/>
          <p:nvPr/>
        </p:nvSpPr>
        <p:spPr>
          <a:xfrm>
            <a:off x="4983480" y="2377440"/>
            <a:ext cx="1920240" cy="347472"/>
          </a:xfrm>
          <a:prstGeom prst="rect">
            <a:avLst/>
          </a:prstGeom>
          <a:noFill/>
          <a:ln/>
        </p:spPr>
        <p:txBody>
          <a:bodyPr wrap="square" rtlCol="0" anchor="ctr"/>
          <a:lstStyle/>
          <a:p>
            <a:pPr indent="0" marL="0">
              <a:buNone/>
            </a:pPr>
            <a:r>
              <a:rPr lang="en-US" sz="1150" dirty="0">
                <a:solidFill>
                  <a:srgbClr val="1A2E3B"/>
                </a:solidFill>
              </a:rPr>
              <a:t>Drag coeff. Cd</a:t>
            </a:r>
            <a:endParaRPr lang="en-US" sz="1150" dirty="0"/>
          </a:p>
        </p:txBody>
      </p:sp>
      <p:sp>
        <p:nvSpPr>
          <p:cNvPr id="38" name="Text 36"/>
          <p:cNvSpPr/>
          <p:nvPr/>
        </p:nvSpPr>
        <p:spPr>
          <a:xfrm>
            <a:off x="6903720" y="2377440"/>
            <a:ext cx="1828800" cy="347472"/>
          </a:xfrm>
          <a:prstGeom prst="rect">
            <a:avLst/>
          </a:prstGeom>
          <a:noFill/>
          <a:ln/>
        </p:spPr>
        <p:txBody>
          <a:bodyPr wrap="square" rtlCol="0" anchor="ctr"/>
          <a:lstStyle/>
          <a:p>
            <a:pPr algn="r" indent="0" marL="0">
              <a:buNone/>
            </a:pPr>
            <a:r>
              <a:rPr lang="en-US" sz="1150" b="1" dirty="0">
                <a:solidFill>
                  <a:srgbClr val="0D1B2A"/>
                </a:solidFill>
              </a:rPr>
              <a:t>0.47</a:t>
            </a:r>
            <a:endParaRPr lang="en-US" sz="1150" dirty="0"/>
          </a:p>
        </p:txBody>
      </p:sp>
      <p:sp>
        <p:nvSpPr>
          <p:cNvPr id="39" name="Shape 37"/>
          <p:cNvSpPr/>
          <p:nvPr/>
        </p:nvSpPr>
        <p:spPr>
          <a:xfrm>
            <a:off x="4892040" y="2770632"/>
            <a:ext cx="3931920" cy="420624"/>
          </a:xfrm>
          <a:prstGeom prst="rect">
            <a:avLst/>
          </a:prstGeom>
          <a:solidFill>
            <a:srgbClr val="FFFFFF"/>
          </a:solidFill>
          <a:ln w="12700">
            <a:solidFill>
              <a:srgbClr val="FFFFFF"/>
            </a:solidFill>
            <a:prstDash val="solid"/>
          </a:ln>
        </p:spPr>
      </p:sp>
      <p:sp>
        <p:nvSpPr>
          <p:cNvPr id="40" name="Text 38"/>
          <p:cNvSpPr/>
          <p:nvPr/>
        </p:nvSpPr>
        <p:spPr>
          <a:xfrm>
            <a:off x="4983480" y="2798064"/>
            <a:ext cx="1920240" cy="347472"/>
          </a:xfrm>
          <a:prstGeom prst="rect">
            <a:avLst/>
          </a:prstGeom>
          <a:noFill/>
          <a:ln/>
        </p:spPr>
        <p:txBody>
          <a:bodyPr wrap="square" rtlCol="0" anchor="ctr"/>
          <a:lstStyle/>
          <a:p>
            <a:pPr indent="0" marL="0">
              <a:buNone/>
            </a:pPr>
            <a:r>
              <a:rPr lang="en-US" sz="1150" dirty="0">
                <a:solidFill>
                  <a:srgbClr val="1A2E3B"/>
                </a:solidFill>
              </a:rPr>
              <a:t>Frontal area A</a:t>
            </a:r>
            <a:endParaRPr lang="en-US" sz="1150" dirty="0"/>
          </a:p>
        </p:txBody>
      </p:sp>
      <p:sp>
        <p:nvSpPr>
          <p:cNvPr id="41" name="Text 39"/>
          <p:cNvSpPr/>
          <p:nvPr/>
        </p:nvSpPr>
        <p:spPr>
          <a:xfrm>
            <a:off x="6903720" y="2798064"/>
            <a:ext cx="1828800" cy="347472"/>
          </a:xfrm>
          <a:prstGeom prst="rect">
            <a:avLst/>
          </a:prstGeom>
          <a:noFill/>
          <a:ln/>
        </p:spPr>
        <p:txBody>
          <a:bodyPr wrap="square" rtlCol="0" anchor="ctr"/>
          <a:lstStyle/>
          <a:p>
            <a:pPr algn="r" indent="0" marL="0">
              <a:buNone/>
            </a:pPr>
            <a:r>
              <a:rPr lang="en-US" sz="1150" b="1" dirty="0">
                <a:solidFill>
                  <a:srgbClr val="0D1B2A"/>
                </a:solidFill>
              </a:rPr>
              <a:t>0.0113 m²</a:t>
            </a:r>
            <a:endParaRPr lang="en-US" sz="1150" dirty="0"/>
          </a:p>
        </p:txBody>
      </p:sp>
      <p:sp>
        <p:nvSpPr>
          <p:cNvPr id="42" name="Shape 40"/>
          <p:cNvSpPr/>
          <p:nvPr/>
        </p:nvSpPr>
        <p:spPr>
          <a:xfrm>
            <a:off x="4892040" y="3191256"/>
            <a:ext cx="3931920" cy="420624"/>
          </a:xfrm>
          <a:prstGeom prst="rect">
            <a:avLst/>
          </a:prstGeom>
          <a:solidFill>
            <a:srgbClr val="F0F4F8"/>
          </a:solidFill>
          <a:ln w="12700">
            <a:solidFill>
              <a:srgbClr val="F0F4F8"/>
            </a:solidFill>
            <a:prstDash val="solid"/>
          </a:ln>
        </p:spPr>
      </p:sp>
      <p:sp>
        <p:nvSpPr>
          <p:cNvPr id="43" name="Text 41"/>
          <p:cNvSpPr/>
          <p:nvPr/>
        </p:nvSpPr>
        <p:spPr>
          <a:xfrm>
            <a:off x="4983480" y="3218688"/>
            <a:ext cx="1920240" cy="347472"/>
          </a:xfrm>
          <a:prstGeom prst="rect">
            <a:avLst/>
          </a:prstGeom>
          <a:noFill/>
          <a:ln/>
        </p:spPr>
        <p:txBody>
          <a:bodyPr wrap="square" rtlCol="0" anchor="ctr"/>
          <a:lstStyle/>
          <a:p>
            <a:pPr indent="0" marL="0">
              <a:buNone/>
            </a:pPr>
            <a:r>
              <a:rPr lang="en-US" sz="1150" dirty="0">
                <a:solidFill>
                  <a:srgbClr val="1A2E3B"/>
                </a:solidFill>
              </a:rPr>
              <a:t>ε (perturbation)</a:t>
            </a:r>
            <a:endParaRPr lang="en-US" sz="1150" dirty="0"/>
          </a:p>
        </p:txBody>
      </p:sp>
      <p:sp>
        <p:nvSpPr>
          <p:cNvPr id="44" name="Text 42"/>
          <p:cNvSpPr/>
          <p:nvPr/>
        </p:nvSpPr>
        <p:spPr>
          <a:xfrm>
            <a:off x="6903720" y="3218688"/>
            <a:ext cx="1828800" cy="347472"/>
          </a:xfrm>
          <a:prstGeom prst="rect">
            <a:avLst/>
          </a:prstGeom>
          <a:noFill/>
          <a:ln/>
        </p:spPr>
        <p:txBody>
          <a:bodyPr wrap="square" rtlCol="0" anchor="ctr"/>
          <a:lstStyle/>
          <a:p>
            <a:pPr algn="r" indent="0" marL="0">
              <a:buNone/>
            </a:pPr>
            <a:r>
              <a:rPr lang="en-US" sz="1150" b="1" dirty="0">
                <a:solidFill>
                  <a:srgbClr val="0D1B2A"/>
                </a:solidFill>
              </a:rPr>
              <a:t>0.000448 m⁻¹</a:t>
            </a:r>
            <a:endParaRPr lang="en-US" sz="1150" dirty="0"/>
          </a:p>
        </p:txBody>
      </p:sp>
      <p:sp>
        <p:nvSpPr>
          <p:cNvPr id="45" name="Shape 43"/>
          <p:cNvSpPr/>
          <p:nvPr/>
        </p:nvSpPr>
        <p:spPr>
          <a:xfrm>
            <a:off x="4892040" y="3611880"/>
            <a:ext cx="3931920" cy="420624"/>
          </a:xfrm>
          <a:prstGeom prst="rect">
            <a:avLst/>
          </a:prstGeom>
          <a:solidFill>
            <a:srgbClr val="FFFFFF"/>
          </a:solidFill>
          <a:ln w="12700">
            <a:solidFill>
              <a:srgbClr val="FFFFFF"/>
            </a:solidFill>
            <a:prstDash val="solid"/>
          </a:ln>
        </p:spPr>
      </p:sp>
      <p:sp>
        <p:nvSpPr>
          <p:cNvPr id="46" name="Text 44"/>
          <p:cNvSpPr/>
          <p:nvPr/>
        </p:nvSpPr>
        <p:spPr>
          <a:xfrm>
            <a:off x="4983480" y="3639312"/>
            <a:ext cx="1920240" cy="347472"/>
          </a:xfrm>
          <a:prstGeom prst="rect">
            <a:avLst/>
          </a:prstGeom>
          <a:noFill/>
          <a:ln/>
        </p:spPr>
        <p:txBody>
          <a:bodyPr wrap="square" rtlCol="0" anchor="ctr"/>
          <a:lstStyle/>
          <a:p>
            <a:pPr indent="0" marL="0">
              <a:buNone/>
            </a:pPr>
            <a:r>
              <a:rPr lang="en-US" sz="1150" dirty="0">
                <a:solidFill>
                  <a:srgbClr val="1A2E3B"/>
                </a:solidFill>
              </a:rPr>
              <a:t>ε·v₀·T_vac</a:t>
            </a:r>
            <a:endParaRPr lang="en-US" sz="1150" dirty="0"/>
          </a:p>
        </p:txBody>
      </p:sp>
      <p:sp>
        <p:nvSpPr>
          <p:cNvPr id="47" name="Text 45"/>
          <p:cNvSpPr/>
          <p:nvPr/>
        </p:nvSpPr>
        <p:spPr>
          <a:xfrm>
            <a:off x="6903720" y="3639312"/>
            <a:ext cx="1828800" cy="347472"/>
          </a:xfrm>
          <a:prstGeom prst="rect">
            <a:avLst/>
          </a:prstGeom>
          <a:noFill/>
          <a:ln/>
        </p:spPr>
        <p:txBody>
          <a:bodyPr wrap="square" rtlCol="0" anchor="ctr"/>
          <a:lstStyle/>
          <a:p>
            <a:pPr algn="r" indent="0" marL="0">
              <a:buNone/>
            </a:pPr>
            <a:r>
              <a:rPr lang="en-US" sz="1150" b="1" dirty="0">
                <a:solidFill>
                  <a:srgbClr val="1A7A4A"/>
                </a:solidFill>
              </a:rPr>
              <a:t>0.0792  ✓ VALID</a:t>
            </a:r>
            <a:endParaRPr lang="en-US" sz="1150" dirty="0"/>
          </a:p>
        </p:txBody>
      </p:sp>
      <p:sp>
        <p:nvSpPr>
          <p:cNvPr id="48" name="Shape 46"/>
          <p:cNvSpPr/>
          <p:nvPr/>
        </p:nvSpPr>
        <p:spPr>
          <a:xfrm>
            <a:off x="4983480" y="4069080"/>
            <a:ext cx="3749040" cy="685800"/>
          </a:xfrm>
          <a:prstGeom prst="roundRect">
            <a:avLst>
              <a:gd name="adj" fmla="val 10667"/>
            </a:avLst>
          </a:prstGeom>
          <a:solidFill>
            <a:srgbClr val="E8F5E9"/>
          </a:solidFill>
          <a:ln w="12700">
            <a:solidFill>
              <a:srgbClr val="1A7A4A"/>
            </a:solidFill>
            <a:prstDash val="solid"/>
          </a:ln>
        </p:spPr>
      </p:sp>
      <p:sp>
        <p:nvSpPr>
          <p:cNvPr id="49" name="Text 47"/>
          <p:cNvSpPr/>
          <p:nvPr/>
        </p:nvSpPr>
        <p:spPr>
          <a:xfrm>
            <a:off x="5029200" y="4096512"/>
            <a:ext cx="3657600" cy="594360"/>
          </a:xfrm>
          <a:prstGeom prst="rect">
            <a:avLst/>
          </a:prstGeom>
          <a:noFill/>
          <a:ln/>
        </p:spPr>
        <p:txBody>
          <a:bodyPr wrap="square" rtlCol="0" anchor="ctr"/>
          <a:lstStyle/>
          <a:p>
            <a:pPr algn="ctr" indent="0" marL="0">
              <a:buNone/>
            </a:pPr>
            <a:r>
              <a:rPr lang="en-US" sz="1050" i="1" dirty="0">
                <a:solidFill>
                  <a:srgbClr val="1A2E3B"/>
                </a:solidFill>
              </a:rPr>
              <a:t>Pure quadratic drag — no torque (point-mass sphere)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E05C4B"/>
          </a:solidFill>
          <a:ln w="12700">
            <a:solidFill>
              <a:srgbClr val="E05C4B"/>
            </a:solidFill>
            <a:prstDash val="solid"/>
          </a:ln>
        </p:spPr>
      </p:sp>
      <p:sp>
        <p:nvSpPr>
          <p:cNvPr id="3" name="Text 1"/>
          <p:cNvSpPr/>
          <p:nvPr/>
        </p:nvSpPr>
        <p:spPr>
          <a:xfrm>
            <a:off x="457200" y="137160"/>
            <a:ext cx="8229600" cy="548640"/>
          </a:xfrm>
          <a:prstGeom prst="rect">
            <a:avLst/>
          </a:prstGeom>
          <a:noFill/>
          <a:ln/>
        </p:spPr>
        <p:txBody>
          <a:bodyPr wrap="square" lIns="0" tIns="0" rIns="0" bIns="0" rtlCol="0" anchor="ctr"/>
          <a:lstStyle/>
          <a:p>
            <a:pPr indent="0" marL="0">
              <a:buNone/>
            </a:pPr>
            <a:r>
              <a:rPr lang="en-US" sz="2100" b="1" dirty="0">
                <a:solidFill>
                  <a:srgbClr val="FFFFFF"/>
                </a:solidFill>
              </a:rPr>
              <a:t>RESULTS — ROD MODE  (Perturbation INVALID)</a:t>
            </a:r>
            <a:endParaRPr lang="en-US" sz="2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1645920"/>
        </p:xfrm>
        <a:graphic>
          <a:graphicData uri="http://schemas.openxmlformats.org/drawingml/2006/table">
            <a:tbl>
              <a:tblPr/>
              <a:tblGrid>
                <a:gridCol w="2011680"/>
                <a:gridCol w="1371600"/>
                <a:gridCol w="1645920"/>
                <a:gridCol w="1645920"/>
                <a:gridCol w="2011680"/>
              </a:tblGrid>
              <a:tr h="411480">
                <a:tc>
                  <a:txBody>
                    <a:bodyPr/>
                    <a:lstStyle/>
                    <a:p>
                      <a:pPr indent="0" marL="0">
                        <a:buNone/>
                      </a:pPr>
                      <a:r>
                        <a:rPr lang="en-US" sz="1100" b="1" dirty="0">
                          <a:solidFill>
                            <a:srgbClr val="FFFFFF"/>
                          </a:solidFill>
                        </a:rPr>
                        <a:t>Metric</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rPr>
                        <a:t>Vacuum</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rPr>
                        <a:t>RK4 (truth)</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rPr>
                        <a:t>Perturbation</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rPr>
                        <a:t>Error</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D1B2A"/>
                    </a:solidFill>
                  </a:tcPr>
                </a:tc>
              </a:tr>
              <a:tr h="411480">
                <a:tc>
                  <a:txBody>
                    <a:bodyPr/>
                    <a:lstStyle/>
                    <a:p>
                      <a:pPr indent="0" marL="0">
                        <a:buNone/>
                      </a:pPr>
                      <a:r>
                        <a:rPr lang="en-US" sz="1100" dirty="0">
                          <a:solidFill>
                            <a:srgbClr val="1A2E3B"/>
                          </a:solidFill>
                        </a:rPr>
                        <a:t>Max Range (m)</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dirty="0">
                          <a:solidFill>
                            <a:srgbClr val="1A2E3B"/>
                          </a:solidFill>
                        </a:rPr>
                        <a:t>124.87</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dirty="0">
                          <a:solidFill>
                            <a:srgbClr val="1A2E3B"/>
                          </a:solidFill>
                        </a:rPr>
                        <a:t>80.92</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dirty="0">
                          <a:solidFill>
                            <a:srgbClr val="1A2E3B"/>
                          </a:solidFill>
                        </a:rPr>
                        <a:t>56.64</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b="1" dirty="0">
                          <a:solidFill>
                            <a:srgbClr val="E05C4B"/>
                          </a:solidFill>
                        </a:rPr>
                        <a:t>24.28  (30%)</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r>
              <a:tr h="411480">
                <a:tc>
                  <a:txBody>
                    <a:bodyPr/>
                    <a:lstStyle/>
                    <a:p>
                      <a:pPr indent="0" marL="0">
                        <a:buNone/>
                      </a:pPr>
                      <a:r>
                        <a:rPr lang="en-US" sz="1100" dirty="0">
                          <a:solidFill>
                            <a:srgbClr val="1A2E3B"/>
                          </a:solidFill>
                        </a:rPr>
                        <a:t>Flight Time (s)</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indent="0" marL="0">
                        <a:buNone/>
                      </a:pPr>
                      <a:r>
                        <a:rPr lang="en-US" sz="1100" dirty="0">
                          <a:solidFill>
                            <a:srgbClr val="1A2E3B"/>
                          </a:solidFill>
                        </a:rPr>
                        <a:t>5.046</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indent="0" marL="0">
                        <a:buNone/>
                      </a:pPr>
                      <a:r>
                        <a:rPr lang="en-US" sz="1100" dirty="0">
                          <a:solidFill>
                            <a:srgbClr val="1A2E3B"/>
                          </a:solidFill>
                        </a:rPr>
                        <a:t>4.440</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indent="0" marL="0">
                        <a:buNone/>
                      </a:pPr>
                      <a:r>
                        <a:rPr lang="en-US" sz="1100" dirty="0">
                          <a:solidFill>
                            <a:srgbClr val="1A2E3B"/>
                          </a:solidFill>
                        </a:rPr>
                        <a:t>4.026</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indent="0" marL="0">
                        <a:buNone/>
                      </a:pPr>
                      <a:r>
                        <a:rPr lang="en-US" sz="1100" b="1" dirty="0">
                          <a:solidFill>
                            <a:srgbClr val="E05C4B"/>
                          </a:solidFill>
                        </a:rPr>
                        <a:t>0.414  (9.3%)</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A2E3B"/>
                          </a:solidFill>
                        </a:rPr>
                        <a:t>Peak Height (m)</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dirty="0">
                          <a:solidFill>
                            <a:srgbClr val="1A2E3B"/>
                          </a:solidFill>
                        </a:rPr>
                        <a:t>31.22</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dirty="0">
                          <a:solidFill>
                            <a:srgbClr val="1A2E3B"/>
                          </a:solidFill>
                        </a:rPr>
                        <a:t>24.23</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dirty="0">
                          <a:solidFill>
                            <a:srgbClr val="1A2E3B"/>
                          </a:solidFill>
                        </a:rPr>
                        <a:t>22.14</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b="1" dirty="0">
                          <a:solidFill>
                            <a:srgbClr val="E05C4B"/>
                          </a:solidFill>
                        </a:rPr>
                        <a:t>2.09  (8.6%)</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r>
            </a:tbl>
          </a:graphicData>
        </a:graphic>
      </p:graphicFrame>
      <p:sp>
        <p:nvSpPr>
          <p:cNvPr id="5" name="Shape 2"/>
          <p:cNvSpPr/>
          <p:nvPr/>
        </p:nvSpPr>
        <p:spPr>
          <a:xfrm>
            <a:off x="274320" y="2743200"/>
            <a:ext cx="4160520" cy="2240280"/>
          </a:xfrm>
          <a:prstGeom prst="roundRect">
            <a:avLst>
              <a:gd name="adj" fmla="val 4082"/>
            </a:avLst>
          </a:prstGeom>
          <a:solidFill>
            <a:srgbClr val="FFFFFF"/>
          </a:solidFill>
          <a:ln/>
          <a:effectLst>
            <a:outerShdw sx="100000" sy="100000" kx="0" ky="0" algn="bl" rotWithShape="0" blurRad="101600" dist="38100" dir="2700000">
              <a:srgbClr val="000000">
                <a:alpha val="13000"/>
              </a:srgbClr>
            </a:outerShdw>
          </a:effectLst>
        </p:spPr>
      </p:sp>
      <p:sp>
        <p:nvSpPr>
          <p:cNvPr id="6" name="Text 3"/>
          <p:cNvSpPr/>
          <p:nvPr/>
        </p:nvSpPr>
        <p:spPr>
          <a:xfrm>
            <a:off x="365760" y="2788920"/>
            <a:ext cx="3977640" cy="365760"/>
          </a:xfrm>
          <a:prstGeom prst="rect">
            <a:avLst/>
          </a:prstGeom>
          <a:noFill/>
          <a:ln/>
        </p:spPr>
        <p:txBody>
          <a:bodyPr wrap="square" rtlCol="0" anchor="ctr"/>
          <a:lstStyle/>
          <a:p>
            <a:pPr indent="0" marL="0">
              <a:buNone/>
            </a:pPr>
            <a:r>
              <a:rPr lang="en-US" sz="1300" b="1" dirty="0">
                <a:solidFill>
                  <a:srgbClr val="E05C4B"/>
                </a:solidFill>
              </a:rPr>
              <a:t>Why the 30% Range Error?</a:t>
            </a:r>
            <a:endParaRPr lang="en-US" sz="1300" dirty="0"/>
          </a:p>
        </p:txBody>
      </p:sp>
      <p:sp>
        <p:nvSpPr>
          <p:cNvPr id="7" name="Text 4"/>
          <p:cNvSpPr/>
          <p:nvPr/>
        </p:nvSpPr>
        <p:spPr>
          <a:xfrm>
            <a:off x="365760" y="3246120"/>
            <a:ext cx="3977640" cy="1645920"/>
          </a:xfrm>
          <a:prstGeom prst="rect">
            <a:avLst/>
          </a:prstGeom>
          <a:noFill/>
          <a:ln/>
        </p:spPr>
        <p:txBody>
          <a:bodyPr wrap="square" rtlCol="0" anchor="ctr"/>
          <a:lstStyle/>
          <a:p>
            <a:pPr indent="0" marL="0">
              <a:buNone/>
            </a:pPr>
            <a:r>
              <a:rPr lang="en-US" sz="1150" dirty="0">
                <a:solidFill>
                  <a:srgbClr val="1A2E3B"/>
                </a:solidFill>
              </a:rPr>
              <a:t>Perturbation fixes drag at launch speed v₀ → constant high γ = 0.214 s⁻¹ throughout.</a:t>
            </a:r>
            <a:endParaRPr lang="en-US" sz="1150" dirty="0"/>
          </a:p>
          <a:p>
            <a:pPr indent="0" marL="0">
              <a:buNone/>
            </a:pPr>
            <a:endParaRPr lang="en-US" sz="1150" dirty="0"/>
          </a:p>
          <a:p>
            <a:pPr indent="0" marL="0">
              <a:buNone/>
            </a:pPr>
            <a:r>
              <a:rPr lang="en-US" sz="1150" dirty="0">
                <a:solidFill>
                  <a:srgbClr val="1A2E3B"/>
                </a:solidFill>
              </a:rPr>
              <a:t>RK4 (quadratic): as rod decelerates, drag ∝ v² drops rapidly near the apex → rod glides farther.</a:t>
            </a:r>
            <a:endParaRPr lang="en-US" sz="1150" dirty="0"/>
          </a:p>
          <a:p>
            <a:pPr indent="0" marL="0">
              <a:buNone/>
            </a:pPr>
            <a:endParaRPr lang="en-US" sz="1150" dirty="0"/>
          </a:p>
          <a:p>
            <a:pPr indent="0" marL="0">
              <a:buNone/>
            </a:pPr>
            <a:r>
              <a:rPr lang="en-US" sz="1150" dirty="0">
                <a:solidFill>
                  <a:srgbClr val="1A2E3B"/>
                </a:solidFill>
              </a:rPr>
              <a:t>Linearization over-damps the slow-velocity phase.</a:t>
            </a:r>
            <a:endParaRPr lang="en-US" sz="1150" dirty="0"/>
          </a:p>
        </p:txBody>
      </p:sp>
      <p:sp>
        <p:nvSpPr>
          <p:cNvPr id="8" name="Shape 5"/>
          <p:cNvSpPr/>
          <p:nvPr/>
        </p:nvSpPr>
        <p:spPr>
          <a:xfrm>
            <a:off x="4709160" y="2743200"/>
            <a:ext cx="4160520" cy="2240280"/>
          </a:xfrm>
          <a:prstGeom prst="roundRect">
            <a:avLst>
              <a:gd name="adj" fmla="val 4082"/>
            </a:avLst>
          </a:prstGeom>
          <a:solidFill>
            <a:srgbClr val="FFFFFF"/>
          </a:solidFill>
          <a:ln/>
          <a:effectLst>
            <a:outerShdw sx="100000" sy="100000" kx="0" ky="0" algn="bl" rotWithShape="0" blurRad="101600" dist="38100" dir="2700000">
              <a:srgbClr val="000000">
                <a:alpha val="13000"/>
              </a:srgbClr>
            </a:outerShdw>
          </a:effectLst>
        </p:spPr>
      </p:sp>
      <p:sp>
        <p:nvSpPr>
          <p:cNvPr id="9" name="Text 6"/>
          <p:cNvSpPr/>
          <p:nvPr/>
        </p:nvSpPr>
        <p:spPr>
          <a:xfrm>
            <a:off x="4800600" y="2788920"/>
            <a:ext cx="3977640" cy="365760"/>
          </a:xfrm>
          <a:prstGeom prst="rect">
            <a:avLst/>
          </a:prstGeom>
          <a:noFill/>
          <a:ln/>
        </p:spPr>
        <p:txBody>
          <a:bodyPr wrap="square" rtlCol="0" anchor="ctr"/>
          <a:lstStyle/>
          <a:p>
            <a:pPr indent="0" marL="0">
              <a:buNone/>
            </a:pPr>
            <a:r>
              <a:rPr lang="en-US" sz="1300" b="1" dirty="0">
                <a:solidFill>
                  <a:srgbClr val="1B7F8E"/>
                </a:solidFill>
              </a:rPr>
              <a:t>Rod Rotation (RK4 only)</a:t>
            </a:r>
            <a:endParaRPr lang="en-US" sz="1300" dirty="0"/>
          </a:p>
        </p:txBody>
      </p:sp>
      <p:sp>
        <p:nvSpPr>
          <p:cNvPr id="10" name="Shape 7"/>
          <p:cNvSpPr/>
          <p:nvPr/>
        </p:nvSpPr>
        <p:spPr>
          <a:xfrm>
            <a:off x="4754880" y="3246120"/>
            <a:ext cx="4069080" cy="402336"/>
          </a:xfrm>
          <a:prstGeom prst="rect">
            <a:avLst/>
          </a:prstGeom>
          <a:solidFill>
            <a:srgbClr val="F0F4F8"/>
          </a:solidFill>
          <a:ln w="12700">
            <a:solidFill>
              <a:srgbClr val="F0F4F8"/>
            </a:solidFill>
            <a:prstDash val="solid"/>
          </a:ln>
        </p:spPr>
      </p:sp>
      <p:sp>
        <p:nvSpPr>
          <p:cNvPr id="11" name="Text 8"/>
          <p:cNvSpPr/>
          <p:nvPr/>
        </p:nvSpPr>
        <p:spPr>
          <a:xfrm>
            <a:off x="4828032" y="3264408"/>
            <a:ext cx="2560320" cy="347472"/>
          </a:xfrm>
          <a:prstGeom prst="rect">
            <a:avLst/>
          </a:prstGeom>
          <a:noFill/>
          <a:ln/>
        </p:spPr>
        <p:txBody>
          <a:bodyPr wrap="square" rtlCol="0" anchor="ctr"/>
          <a:lstStyle/>
          <a:p>
            <a:pPr indent="0" marL="0">
              <a:buNone/>
            </a:pPr>
            <a:r>
              <a:rPr lang="en-US" sz="1150" dirty="0">
                <a:solidFill>
                  <a:srgbClr val="1A2E3B"/>
                </a:solidFill>
              </a:rPr>
              <a:t>Net angle change Δθ</a:t>
            </a:r>
            <a:endParaRPr lang="en-US" sz="1150" dirty="0"/>
          </a:p>
        </p:txBody>
      </p:sp>
      <p:sp>
        <p:nvSpPr>
          <p:cNvPr id="12" name="Text 9"/>
          <p:cNvSpPr/>
          <p:nvPr/>
        </p:nvSpPr>
        <p:spPr>
          <a:xfrm>
            <a:off x="7406640" y="3264408"/>
            <a:ext cx="1325880" cy="347472"/>
          </a:xfrm>
          <a:prstGeom prst="rect">
            <a:avLst/>
          </a:prstGeom>
          <a:noFill/>
          <a:ln/>
        </p:spPr>
        <p:txBody>
          <a:bodyPr wrap="square" rtlCol="0" anchor="ctr"/>
          <a:lstStyle/>
          <a:p>
            <a:pPr algn="r" indent="0" marL="0">
              <a:buNone/>
            </a:pPr>
            <a:r>
              <a:rPr lang="en-US" sz="1150" b="1" dirty="0">
                <a:solidFill>
                  <a:srgbClr val="0D1B2A"/>
                </a:solidFill>
              </a:rPr>
              <a:t>90.86°</a:t>
            </a:r>
            <a:endParaRPr lang="en-US" sz="1150" dirty="0"/>
          </a:p>
        </p:txBody>
      </p:sp>
      <p:sp>
        <p:nvSpPr>
          <p:cNvPr id="13" name="Shape 10"/>
          <p:cNvSpPr/>
          <p:nvPr/>
        </p:nvSpPr>
        <p:spPr>
          <a:xfrm>
            <a:off x="4754880" y="3666744"/>
            <a:ext cx="4069080" cy="402336"/>
          </a:xfrm>
          <a:prstGeom prst="rect">
            <a:avLst/>
          </a:prstGeom>
          <a:solidFill>
            <a:srgbClr val="FFFFFF"/>
          </a:solidFill>
          <a:ln w="12700">
            <a:solidFill>
              <a:srgbClr val="F0F4F8"/>
            </a:solidFill>
            <a:prstDash val="solid"/>
          </a:ln>
        </p:spPr>
      </p:sp>
      <p:sp>
        <p:nvSpPr>
          <p:cNvPr id="14" name="Text 11"/>
          <p:cNvSpPr/>
          <p:nvPr/>
        </p:nvSpPr>
        <p:spPr>
          <a:xfrm>
            <a:off x="4828032" y="3685032"/>
            <a:ext cx="2560320" cy="347472"/>
          </a:xfrm>
          <a:prstGeom prst="rect">
            <a:avLst/>
          </a:prstGeom>
          <a:noFill/>
          <a:ln/>
        </p:spPr>
        <p:txBody>
          <a:bodyPr wrap="square" rtlCol="0" anchor="ctr"/>
          <a:lstStyle/>
          <a:p>
            <a:pPr indent="0" marL="0">
              <a:buNone/>
            </a:pPr>
            <a:r>
              <a:rPr lang="en-US" sz="1150" dirty="0">
                <a:solidFill>
                  <a:srgbClr val="1A2E3B"/>
                </a:solidFill>
              </a:rPr>
              <a:t>Total angular path</a:t>
            </a:r>
            <a:endParaRPr lang="en-US" sz="1150" dirty="0"/>
          </a:p>
        </p:txBody>
      </p:sp>
      <p:sp>
        <p:nvSpPr>
          <p:cNvPr id="15" name="Text 12"/>
          <p:cNvSpPr/>
          <p:nvPr/>
        </p:nvSpPr>
        <p:spPr>
          <a:xfrm>
            <a:off x="7406640" y="3685032"/>
            <a:ext cx="1325880" cy="347472"/>
          </a:xfrm>
          <a:prstGeom prst="rect">
            <a:avLst/>
          </a:prstGeom>
          <a:noFill/>
          <a:ln/>
        </p:spPr>
        <p:txBody>
          <a:bodyPr wrap="square" rtlCol="0" anchor="ctr"/>
          <a:lstStyle/>
          <a:p>
            <a:pPr algn="r" indent="0" marL="0">
              <a:buNone/>
            </a:pPr>
            <a:r>
              <a:rPr lang="en-US" sz="1150" b="1" dirty="0">
                <a:solidFill>
                  <a:srgbClr val="0D1B2A"/>
                </a:solidFill>
              </a:rPr>
              <a:t>7.805 rad</a:t>
            </a:r>
            <a:endParaRPr lang="en-US" sz="1150" dirty="0"/>
          </a:p>
        </p:txBody>
      </p:sp>
      <p:sp>
        <p:nvSpPr>
          <p:cNvPr id="16" name="Shape 13"/>
          <p:cNvSpPr/>
          <p:nvPr/>
        </p:nvSpPr>
        <p:spPr>
          <a:xfrm>
            <a:off x="4754880" y="4087368"/>
            <a:ext cx="4069080" cy="402336"/>
          </a:xfrm>
          <a:prstGeom prst="rect">
            <a:avLst/>
          </a:prstGeom>
          <a:solidFill>
            <a:srgbClr val="F0F4F8"/>
          </a:solidFill>
          <a:ln w="12700">
            <a:solidFill>
              <a:srgbClr val="F0F4F8"/>
            </a:solidFill>
            <a:prstDash val="solid"/>
          </a:ln>
        </p:spPr>
      </p:sp>
      <p:sp>
        <p:nvSpPr>
          <p:cNvPr id="17" name="Text 14"/>
          <p:cNvSpPr/>
          <p:nvPr/>
        </p:nvSpPr>
        <p:spPr>
          <a:xfrm>
            <a:off x="4828032" y="4105656"/>
            <a:ext cx="2560320" cy="347472"/>
          </a:xfrm>
          <a:prstGeom prst="rect">
            <a:avLst/>
          </a:prstGeom>
          <a:noFill/>
          <a:ln/>
        </p:spPr>
        <p:txBody>
          <a:bodyPr wrap="square" rtlCol="0" anchor="ctr"/>
          <a:lstStyle/>
          <a:p>
            <a:pPr indent="0" marL="0">
              <a:buNone/>
            </a:pPr>
            <a:r>
              <a:rPr lang="en-US" sz="1150" dirty="0">
                <a:solidFill>
                  <a:srgbClr val="1A2E3B"/>
                </a:solidFill>
              </a:rPr>
              <a:t>Equivalent rotations</a:t>
            </a:r>
            <a:endParaRPr lang="en-US" sz="1150" dirty="0"/>
          </a:p>
        </p:txBody>
      </p:sp>
      <p:sp>
        <p:nvSpPr>
          <p:cNvPr id="18" name="Text 15"/>
          <p:cNvSpPr/>
          <p:nvPr/>
        </p:nvSpPr>
        <p:spPr>
          <a:xfrm>
            <a:off x="7406640" y="4105656"/>
            <a:ext cx="1325880" cy="347472"/>
          </a:xfrm>
          <a:prstGeom prst="rect">
            <a:avLst/>
          </a:prstGeom>
          <a:noFill/>
          <a:ln/>
        </p:spPr>
        <p:txBody>
          <a:bodyPr wrap="square" rtlCol="0" anchor="ctr"/>
          <a:lstStyle/>
          <a:p>
            <a:pPr algn="r" indent="0" marL="0">
              <a:buNone/>
            </a:pPr>
            <a:r>
              <a:rPr lang="en-US" sz="1150" b="1" dirty="0">
                <a:solidFill>
                  <a:srgbClr val="0D1B2A"/>
                </a:solidFill>
              </a:rPr>
              <a:t>1.242 rev</a:t>
            </a:r>
            <a:endParaRPr lang="en-US" sz="1150" dirty="0"/>
          </a:p>
        </p:txBody>
      </p:sp>
      <p:sp>
        <p:nvSpPr>
          <p:cNvPr id="19" name="Shape 16"/>
          <p:cNvSpPr/>
          <p:nvPr/>
        </p:nvSpPr>
        <p:spPr>
          <a:xfrm>
            <a:off x="4754880" y="4507992"/>
            <a:ext cx="4069080" cy="402336"/>
          </a:xfrm>
          <a:prstGeom prst="rect">
            <a:avLst/>
          </a:prstGeom>
          <a:solidFill>
            <a:srgbClr val="FFFFFF"/>
          </a:solidFill>
          <a:ln w="12700">
            <a:solidFill>
              <a:srgbClr val="F0F4F8"/>
            </a:solidFill>
            <a:prstDash val="solid"/>
          </a:ln>
        </p:spPr>
      </p:sp>
      <p:sp>
        <p:nvSpPr>
          <p:cNvPr id="20" name="Text 17"/>
          <p:cNvSpPr/>
          <p:nvPr/>
        </p:nvSpPr>
        <p:spPr>
          <a:xfrm>
            <a:off x="4828032" y="4526280"/>
            <a:ext cx="2560320" cy="347472"/>
          </a:xfrm>
          <a:prstGeom prst="rect">
            <a:avLst/>
          </a:prstGeom>
          <a:noFill/>
          <a:ln/>
        </p:spPr>
        <p:txBody>
          <a:bodyPr wrap="square" rtlCol="0" anchor="ctr"/>
          <a:lstStyle/>
          <a:p>
            <a:pPr indent="0" marL="0">
              <a:buNone/>
            </a:pPr>
            <a:r>
              <a:rPr lang="en-US" sz="1150" dirty="0">
                <a:solidFill>
                  <a:srgbClr val="1A2E3B"/>
                </a:solidFill>
              </a:rPr>
              <a:t>Behavior</a:t>
            </a:r>
            <a:endParaRPr lang="en-US" sz="1150" dirty="0"/>
          </a:p>
        </p:txBody>
      </p:sp>
      <p:sp>
        <p:nvSpPr>
          <p:cNvPr id="21" name="Text 18"/>
          <p:cNvSpPr/>
          <p:nvPr/>
        </p:nvSpPr>
        <p:spPr>
          <a:xfrm>
            <a:off x="7406640" y="4526280"/>
            <a:ext cx="1325880" cy="347472"/>
          </a:xfrm>
          <a:prstGeom prst="rect">
            <a:avLst/>
          </a:prstGeom>
          <a:noFill/>
          <a:ln/>
        </p:spPr>
        <p:txBody>
          <a:bodyPr wrap="square" rtlCol="0" anchor="ctr"/>
          <a:lstStyle/>
          <a:p>
            <a:pPr algn="r" indent="0" marL="0">
              <a:buNone/>
            </a:pPr>
            <a:r>
              <a:rPr lang="en-US" sz="1150" b="1" dirty="0">
                <a:solidFill>
                  <a:srgbClr val="0D1B2A"/>
                </a:solidFill>
              </a:rPr>
              <a:t>Pitch oscillation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7A4A"/>
          </a:solidFill>
          <a:ln w="12700">
            <a:solidFill>
              <a:srgbClr val="1A7A4A"/>
            </a:solidFill>
            <a:prstDash val="solid"/>
          </a:ln>
        </p:spPr>
      </p:sp>
      <p:sp>
        <p:nvSpPr>
          <p:cNvPr id="3" name="Text 1"/>
          <p:cNvSpPr/>
          <p:nvPr/>
        </p:nvSpPr>
        <p:spPr>
          <a:xfrm>
            <a:off x="457200" y="137160"/>
            <a:ext cx="8229600" cy="548640"/>
          </a:xfrm>
          <a:prstGeom prst="rect">
            <a:avLst/>
          </a:prstGeom>
          <a:noFill/>
          <a:ln/>
        </p:spPr>
        <p:txBody>
          <a:bodyPr wrap="square" lIns="0" tIns="0" rIns="0" bIns="0" rtlCol="0" anchor="ctr"/>
          <a:lstStyle/>
          <a:p>
            <a:pPr indent="0" marL="0">
              <a:buNone/>
            </a:pPr>
            <a:r>
              <a:rPr lang="en-US" sz="2100" b="1" dirty="0">
                <a:solidFill>
                  <a:srgbClr val="FFFFFF"/>
                </a:solidFill>
              </a:rPr>
              <a:t>RESULTS — BALL MODE  (Perturbation VALID)</a:t>
            </a:r>
            <a:endParaRPr lang="en-US" sz="2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1645920"/>
        </p:xfrm>
        <a:graphic>
          <a:graphicData uri="http://schemas.openxmlformats.org/drawingml/2006/table">
            <a:tbl>
              <a:tblPr/>
              <a:tblGrid>
                <a:gridCol w="2011680"/>
                <a:gridCol w="1371600"/>
                <a:gridCol w="1645920"/>
                <a:gridCol w="1645920"/>
                <a:gridCol w="2011680"/>
              </a:tblGrid>
              <a:tr h="411480">
                <a:tc>
                  <a:txBody>
                    <a:bodyPr/>
                    <a:lstStyle/>
                    <a:p>
                      <a:pPr indent="0" marL="0">
                        <a:buNone/>
                      </a:pPr>
                      <a:r>
                        <a:rPr lang="en-US" sz="1100" b="1" dirty="0">
                          <a:solidFill>
                            <a:srgbClr val="FFFFFF"/>
                          </a:solidFill>
                        </a:rPr>
                        <a:t>Metric</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rPr>
                        <a:t>Vacuum</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rPr>
                        <a:t>RK4 (truth)</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rPr>
                        <a:t>Perturbation</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rPr>
                        <a:t>Error</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D1B2A"/>
                    </a:solidFill>
                  </a:tcPr>
                </a:tc>
              </a:tr>
              <a:tr h="411480">
                <a:tc>
                  <a:txBody>
                    <a:bodyPr/>
                    <a:lstStyle/>
                    <a:p>
                      <a:pPr indent="0" marL="0">
                        <a:buNone/>
                      </a:pPr>
                      <a:r>
                        <a:rPr lang="en-US" sz="1100" dirty="0">
                          <a:solidFill>
                            <a:srgbClr val="1A2E3B"/>
                          </a:solidFill>
                        </a:rPr>
                        <a:t>Max Range (m)</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dirty="0">
                          <a:solidFill>
                            <a:srgbClr val="1A2E3B"/>
                          </a:solidFill>
                        </a:rPr>
                        <a:t>124.87</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dirty="0">
                          <a:solidFill>
                            <a:srgbClr val="1A2E3B"/>
                          </a:solidFill>
                        </a:rPr>
                        <a:t>119.72</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dirty="0">
                          <a:solidFill>
                            <a:srgbClr val="1A2E3B"/>
                          </a:solidFill>
                        </a:rPr>
                        <a:t>118.36</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b="1" dirty="0">
                          <a:solidFill>
                            <a:srgbClr val="1A7A4A"/>
                          </a:solidFill>
                        </a:rPr>
                        <a:t>1.36  (1.13%)</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r>
              <a:tr h="411480">
                <a:tc>
                  <a:txBody>
                    <a:bodyPr/>
                    <a:lstStyle/>
                    <a:p>
                      <a:pPr indent="0" marL="0">
                        <a:buNone/>
                      </a:pPr>
                      <a:r>
                        <a:rPr lang="en-US" sz="1100" dirty="0">
                          <a:solidFill>
                            <a:srgbClr val="1A2E3B"/>
                          </a:solidFill>
                        </a:rPr>
                        <a:t>Flight Time (s)</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indent="0" marL="0">
                        <a:buNone/>
                      </a:pPr>
                      <a:r>
                        <a:rPr lang="en-US" sz="1100" dirty="0">
                          <a:solidFill>
                            <a:srgbClr val="1A2E3B"/>
                          </a:solidFill>
                        </a:rPr>
                        <a:t>5.046</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indent="0" marL="0">
                        <a:buNone/>
                      </a:pPr>
                      <a:r>
                        <a:rPr lang="en-US" sz="1100" dirty="0">
                          <a:solidFill>
                            <a:srgbClr val="1A2E3B"/>
                          </a:solidFill>
                        </a:rPr>
                        <a:t>4.990</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indent="0" marL="0">
                        <a:buNone/>
                      </a:pPr>
                      <a:r>
                        <a:rPr lang="en-US" sz="1100" dirty="0">
                          <a:solidFill>
                            <a:srgbClr val="1A2E3B"/>
                          </a:solidFill>
                        </a:rPr>
                        <a:t>4.977</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indent="0" marL="0">
                        <a:buNone/>
                      </a:pPr>
                      <a:r>
                        <a:rPr lang="en-US" sz="1100" b="1" dirty="0">
                          <a:solidFill>
                            <a:srgbClr val="1A7A4A"/>
                          </a:solidFill>
                        </a:rPr>
                        <a:t>0.013  (0.26%)</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A2E3B"/>
                          </a:solidFill>
                        </a:rPr>
                        <a:t>Peak Height (m)</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dirty="0">
                          <a:solidFill>
                            <a:srgbClr val="1A2E3B"/>
                          </a:solidFill>
                        </a:rPr>
                        <a:t>31.22</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dirty="0">
                          <a:solidFill>
                            <a:srgbClr val="1A2E3B"/>
                          </a:solidFill>
                        </a:rPr>
                        <a:t>30.51</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dirty="0">
                          <a:solidFill>
                            <a:srgbClr val="1A2E3B"/>
                          </a:solidFill>
                        </a:rPr>
                        <a:t>30.41</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c>
                  <a:txBody>
                    <a:bodyPr/>
                    <a:lstStyle/>
                    <a:p>
                      <a:pPr indent="0" marL="0">
                        <a:buNone/>
                      </a:pPr>
                      <a:r>
                        <a:rPr lang="en-US" sz="1100" b="1" dirty="0">
                          <a:solidFill>
                            <a:srgbClr val="1A7A4A"/>
                          </a:solidFill>
                        </a:rPr>
                        <a:t>0.10  (0.33%)</a:t>
                      </a:r>
                      <a:endParaRPr lang="en-US" sz="11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0F4F8"/>
                    </a:solidFill>
                  </a:tcPr>
                </a:tc>
              </a:tr>
            </a:tbl>
          </a:graphicData>
        </a:graphic>
      </p:graphicFrame>
      <p:sp>
        <p:nvSpPr>
          <p:cNvPr id="5" name="Shape 2"/>
          <p:cNvSpPr/>
          <p:nvPr/>
        </p:nvSpPr>
        <p:spPr>
          <a:xfrm>
            <a:off x="274320" y="2743200"/>
            <a:ext cx="2011680" cy="1371600"/>
          </a:xfrm>
          <a:prstGeom prst="roundRect">
            <a:avLst>
              <a:gd name="adj" fmla="val 6667"/>
            </a:avLst>
          </a:prstGeom>
          <a:solidFill>
            <a:srgbClr val="FFFFFF"/>
          </a:solidFill>
          <a:ln/>
          <a:effectLst>
            <a:outerShdw sx="100000" sy="100000" kx="0" ky="0" algn="bl" rotWithShape="0" blurRad="101600" dist="38100" dir="2700000">
              <a:srgbClr val="000000">
                <a:alpha val="13000"/>
              </a:srgbClr>
            </a:outerShdw>
          </a:effectLst>
        </p:spPr>
      </p:sp>
      <p:sp>
        <p:nvSpPr>
          <p:cNvPr id="6" name="Text 3"/>
          <p:cNvSpPr/>
          <p:nvPr/>
        </p:nvSpPr>
        <p:spPr>
          <a:xfrm>
            <a:off x="274320" y="2834640"/>
            <a:ext cx="2011680" cy="640080"/>
          </a:xfrm>
          <a:prstGeom prst="rect">
            <a:avLst/>
          </a:prstGeom>
          <a:noFill/>
          <a:ln/>
        </p:spPr>
        <p:txBody>
          <a:bodyPr wrap="square" rtlCol="0" anchor="ctr"/>
          <a:lstStyle/>
          <a:p>
            <a:pPr algn="ctr" indent="0" marL="0">
              <a:buNone/>
            </a:pPr>
            <a:r>
              <a:rPr lang="en-US" sz="2800" b="1" dirty="0">
                <a:solidFill>
                  <a:srgbClr val="1A7A4A"/>
                </a:solidFill>
              </a:rPr>
              <a:t>1.13%</a:t>
            </a:r>
            <a:endParaRPr lang="en-US" sz="2800" dirty="0"/>
          </a:p>
        </p:txBody>
      </p:sp>
      <p:sp>
        <p:nvSpPr>
          <p:cNvPr id="7" name="Text 4"/>
          <p:cNvSpPr/>
          <p:nvPr/>
        </p:nvSpPr>
        <p:spPr>
          <a:xfrm>
            <a:off x="365760" y="3520440"/>
            <a:ext cx="1828800" cy="457200"/>
          </a:xfrm>
          <a:prstGeom prst="rect">
            <a:avLst/>
          </a:prstGeom>
          <a:noFill/>
          <a:ln/>
        </p:spPr>
        <p:txBody>
          <a:bodyPr wrap="square" rtlCol="0" anchor="ctr"/>
          <a:lstStyle/>
          <a:p>
            <a:pPr algn="ctr" indent="0" marL="0">
              <a:buNone/>
            </a:pPr>
            <a:r>
              <a:rPr lang="en-US" sz="1050" dirty="0">
                <a:solidFill>
                  <a:srgbClr val="1A2E3B"/>
                </a:solidFill>
              </a:rPr>
              <a:t>Range Error</a:t>
            </a:r>
            <a:endParaRPr lang="en-US" sz="1050" dirty="0"/>
          </a:p>
        </p:txBody>
      </p:sp>
      <p:sp>
        <p:nvSpPr>
          <p:cNvPr id="8" name="Shape 5"/>
          <p:cNvSpPr/>
          <p:nvPr/>
        </p:nvSpPr>
        <p:spPr>
          <a:xfrm>
            <a:off x="2450592" y="2743200"/>
            <a:ext cx="2011680" cy="1371600"/>
          </a:xfrm>
          <a:prstGeom prst="roundRect">
            <a:avLst>
              <a:gd name="adj" fmla="val 6667"/>
            </a:avLst>
          </a:prstGeom>
          <a:solidFill>
            <a:srgbClr val="FFFFFF"/>
          </a:solidFill>
          <a:ln/>
          <a:effectLst>
            <a:outerShdw sx="100000" sy="100000" kx="0" ky="0" algn="bl" rotWithShape="0" blurRad="101600" dist="38100" dir="2700000">
              <a:srgbClr val="000000">
                <a:alpha val="13000"/>
              </a:srgbClr>
            </a:outerShdw>
          </a:effectLst>
        </p:spPr>
      </p:sp>
      <p:sp>
        <p:nvSpPr>
          <p:cNvPr id="9" name="Text 6"/>
          <p:cNvSpPr/>
          <p:nvPr/>
        </p:nvSpPr>
        <p:spPr>
          <a:xfrm>
            <a:off x="2450592" y="2834640"/>
            <a:ext cx="2011680" cy="640080"/>
          </a:xfrm>
          <a:prstGeom prst="rect">
            <a:avLst/>
          </a:prstGeom>
          <a:noFill/>
          <a:ln/>
        </p:spPr>
        <p:txBody>
          <a:bodyPr wrap="square" rtlCol="0" anchor="ctr"/>
          <a:lstStyle/>
          <a:p>
            <a:pPr algn="ctr" indent="0" marL="0">
              <a:buNone/>
            </a:pPr>
            <a:r>
              <a:rPr lang="en-US" sz="2800" b="1" dirty="0">
                <a:solidFill>
                  <a:srgbClr val="1A7A4A"/>
                </a:solidFill>
              </a:rPr>
              <a:t>0.26%</a:t>
            </a:r>
            <a:endParaRPr lang="en-US" sz="2800" dirty="0"/>
          </a:p>
        </p:txBody>
      </p:sp>
      <p:sp>
        <p:nvSpPr>
          <p:cNvPr id="10" name="Text 7"/>
          <p:cNvSpPr/>
          <p:nvPr/>
        </p:nvSpPr>
        <p:spPr>
          <a:xfrm>
            <a:off x="2542032" y="3520440"/>
            <a:ext cx="1828800" cy="457200"/>
          </a:xfrm>
          <a:prstGeom prst="rect">
            <a:avLst/>
          </a:prstGeom>
          <a:noFill/>
          <a:ln/>
        </p:spPr>
        <p:txBody>
          <a:bodyPr wrap="square" rtlCol="0" anchor="ctr"/>
          <a:lstStyle/>
          <a:p>
            <a:pPr algn="ctr" indent="0" marL="0">
              <a:buNone/>
            </a:pPr>
            <a:r>
              <a:rPr lang="en-US" sz="1050" dirty="0">
                <a:solidFill>
                  <a:srgbClr val="1A2E3B"/>
                </a:solidFill>
              </a:rPr>
              <a:t>Flight Time Error</a:t>
            </a:r>
            <a:endParaRPr lang="en-US" sz="1050" dirty="0"/>
          </a:p>
        </p:txBody>
      </p:sp>
      <p:sp>
        <p:nvSpPr>
          <p:cNvPr id="11" name="Shape 8"/>
          <p:cNvSpPr/>
          <p:nvPr/>
        </p:nvSpPr>
        <p:spPr>
          <a:xfrm>
            <a:off x="4626864" y="2743200"/>
            <a:ext cx="2011680" cy="1371600"/>
          </a:xfrm>
          <a:prstGeom prst="roundRect">
            <a:avLst>
              <a:gd name="adj" fmla="val 6667"/>
            </a:avLst>
          </a:prstGeom>
          <a:solidFill>
            <a:srgbClr val="FFFFFF"/>
          </a:solidFill>
          <a:ln/>
          <a:effectLst>
            <a:outerShdw sx="100000" sy="100000" kx="0" ky="0" algn="bl" rotWithShape="0" blurRad="101600" dist="38100" dir="2700000">
              <a:srgbClr val="000000">
                <a:alpha val="13000"/>
              </a:srgbClr>
            </a:outerShdw>
          </a:effectLst>
        </p:spPr>
      </p:sp>
      <p:sp>
        <p:nvSpPr>
          <p:cNvPr id="12" name="Text 9"/>
          <p:cNvSpPr/>
          <p:nvPr/>
        </p:nvSpPr>
        <p:spPr>
          <a:xfrm>
            <a:off x="4626864" y="2834640"/>
            <a:ext cx="2011680" cy="640080"/>
          </a:xfrm>
          <a:prstGeom prst="rect">
            <a:avLst/>
          </a:prstGeom>
          <a:noFill/>
          <a:ln/>
        </p:spPr>
        <p:txBody>
          <a:bodyPr wrap="square" rtlCol="0" anchor="ctr"/>
          <a:lstStyle/>
          <a:p>
            <a:pPr algn="ctr" indent="0" marL="0">
              <a:buNone/>
            </a:pPr>
            <a:r>
              <a:rPr lang="en-US" sz="2800" b="1" dirty="0">
                <a:solidFill>
                  <a:srgbClr val="1A7A4A"/>
                </a:solidFill>
              </a:rPr>
              <a:t>0.33%</a:t>
            </a:r>
            <a:endParaRPr lang="en-US" sz="2800" dirty="0"/>
          </a:p>
        </p:txBody>
      </p:sp>
      <p:sp>
        <p:nvSpPr>
          <p:cNvPr id="13" name="Text 10"/>
          <p:cNvSpPr/>
          <p:nvPr/>
        </p:nvSpPr>
        <p:spPr>
          <a:xfrm>
            <a:off x="4718304" y="3520440"/>
            <a:ext cx="1828800" cy="457200"/>
          </a:xfrm>
          <a:prstGeom prst="rect">
            <a:avLst/>
          </a:prstGeom>
          <a:noFill/>
          <a:ln/>
        </p:spPr>
        <p:txBody>
          <a:bodyPr wrap="square" rtlCol="0" anchor="ctr"/>
          <a:lstStyle/>
          <a:p>
            <a:pPr algn="ctr" indent="0" marL="0">
              <a:buNone/>
            </a:pPr>
            <a:r>
              <a:rPr lang="en-US" sz="1050" dirty="0">
                <a:solidFill>
                  <a:srgbClr val="1A2E3B"/>
                </a:solidFill>
              </a:rPr>
              <a:t>Height Error</a:t>
            </a:r>
            <a:endParaRPr lang="en-US" sz="1050" dirty="0"/>
          </a:p>
        </p:txBody>
      </p:sp>
      <p:sp>
        <p:nvSpPr>
          <p:cNvPr id="14" name="Shape 11"/>
          <p:cNvSpPr/>
          <p:nvPr/>
        </p:nvSpPr>
        <p:spPr>
          <a:xfrm>
            <a:off x="6803136" y="2743200"/>
            <a:ext cx="2011680" cy="1371600"/>
          </a:xfrm>
          <a:prstGeom prst="roundRect">
            <a:avLst>
              <a:gd name="adj" fmla="val 6667"/>
            </a:avLst>
          </a:prstGeom>
          <a:solidFill>
            <a:srgbClr val="FFFFFF"/>
          </a:solidFill>
          <a:ln/>
          <a:effectLst>
            <a:outerShdw sx="100000" sy="100000" kx="0" ky="0" algn="bl" rotWithShape="0" blurRad="101600" dist="38100" dir="2700000">
              <a:srgbClr val="000000">
                <a:alpha val="13000"/>
              </a:srgbClr>
            </a:outerShdw>
          </a:effectLst>
        </p:spPr>
      </p:sp>
      <p:sp>
        <p:nvSpPr>
          <p:cNvPr id="15" name="Text 12"/>
          <p:cNvSpPr/>
          <p:nvPr/>
        </p:nvSpPr>
        <p:spPr>
          <a:xfrm>
            <a:off x="6803136" y="2834640"/>
            <a:ext cx="2011680" cy="640080"/>
          </a:xfrm>
          <a:prstGeom prst="rect">
            <a:avLst/>
          </a:prstGeom>
          <a:noFill/>
          <a:ln/>
        </p:spPr>
        <p:txBody>
          <a:bodyPr wrap="square" rtlCol="0" anchor="ctr"/>
          <a:lstStyle/>
          <a:p>
            <a:pPr algn="ctr" indent="0" marL="0">
              <a:buNone/>
            </a:pPr>
            <a:r>
              <a:rPr lang="en-US" sz="2800" b="1" dirty="0">
                <a:solidFill>
                  <a:srgbClr val="1B7F8E"/>
                </a:solidFill>
              </a:rPr>
              <a:t>0.079</a:t>
            </a:r>
            <a:endParaRPr lang="en-US" sz="2800" dirty="0"/>
          </a:p>
        </p:txBody>
      </p:sp>
      <p:sp>
        <p:nvSpPr>
          <p:cNvPr id="16" name="Text 13"/>
          <p:cNvSpPr/>
          <p:nvPr/>
        </p:nvSpPr>
        <p:spPr>
          <a:xfrm>
            <a:off x="6894576" y="3520440"/>
            <a:ext cx="1828800" cy="457200"/>
          </a:xfrm>
          <a:prstGeom prst="rect">
            <a:avLst/>
          </a:prstGeom>
          <a:noFill/>
          <a:ln/>
        </p:spPr>
        <p:txBody>
          <a:bodyPr wrap="square" rtlCol="0" anchor="ctr"/>
          <a:lstStyle/>
          <a:p>
            <a:pPr algn="ctr" indent="0" marL="0">
              <a:buNone/>
            </a:pPr>
            <a:r>
              <a:rPr lang="en-US" sz="1050" dirty="0">
                <a:solidFill>
                  <a:srgbClr val="1A2E3B"/>
                </a:solidFill>
              </a:rPr>
              <a:t>Smallness ε·v₀·T_vac</a:t>
            </a:r>
            <a:endParaRPr lang="en-US" sz="1050" dirty="0"/>
          </a:p>
        </p:txBody>
      </p:sp>
      <p:sp>
        <p:nvSpPr>
          <p:cNvPr id="17" name="Shape 14"/>
          <p:cNvSpPr/>
          <p:nvPr/>
        </p:nvSpPr>
        <p:spPr>
          <a:xfrm>
            <a:off x="274320" y="4251960"/>
            <a:ext cx="8595360" cy="731520"/>
          </a:xfrm>
          <a:prstGeom prst="roundRect">
            <a:avLst>
              <a:gd name="adj" fmla="val 12500"/>
            </a:avLst>
          </a:prstGeom>
          <a:solidFill>
            <a:srgbClr val="E8F5E9"/>
          </a:solidFill>
          <a:ln w="12700">
            <a:solidFill>
              <a:srgbClr val="1A7A4A"/>
            </a:solidFill>
            <a:prstDash val="solid"/>
          </a:ln>
        </p:spPr>
      </p:sp>
      <p:sp>
        <p:nvSpPr>
          <p:cNvPr id="18" name="Text 15"/>
          <p:cNvSpPr/>
          <p:nvPr/>
        </p:nvSpPr>
        <p:spPr>
          <a:xfrm>
            <a:off x="411480" y="4297680"/>
            <a:ext cx="8321040" cy="640080"/>
          </a:xfrm>
          <a:prstGeom prst="rect">
            <a:avLst/>
          </a:prstGeom>
          <a:noFill/>
          <a:ln/>
        </p:spPr>
        <p:txBody>
          <a:bodyPr wrap="square" rtlCol="0" anchor="ctr"/>
          <a:lstStyle/>
          <a:p>
            <a:pPr indent="0" marL="0">
              <a:buNone/>
            </a:pPr>
            <a:r>
              <a:rPr lang="en-US" sz="1200" dirty="0">
                <a:solidFill>
                  <a:srgbClr val="1A2E3B"/>
                </a:solidFill>
              </a:rPr>
              <a:t>The shot put's high ballistic coefficient (large m/A ratio) keeps ε extremely small. Nonlinear coupling terms remain negligible — the perturbation expansion is an excellent closed-form surrogate.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457200" y="137160"/>
            <a:ext cx="8229600" cy="548640"/>
          </a:xfrm>
          <a:prstGeom prst="rect">
            <a:avLst/>
          </a:prstGeom>
          <a:noFill/>
          <a:ln/>
        </p:spPr>
        <p:txBody>
          <a:bodyPr wrap="square" lIns="0" tIns="0" rIns="0" bIns="0" rtlCol="0" anchor="ctr"/>
          <a:lstStyle/>
          <a:p>
            <a:pPr indent="0" marL="0">
              <a:buNone/>
            </a:pPr>
            <a:r>
              <a:rPr lang="en-US" sz="2200" b="1" dirty="0">
                <a:solidFill>
                  <a:srgbClr val="FFFFFF"/>
                </a:solidFill>
              </a:rPr>
              <a:t>COMPARATIVE SUMMARY</a:t>
            </a:r>
            <a:endParaRPr lang="en-US" sz="2200" dirty="0"/>
          </a:p>
        </p:txBody>
      </p:sp>
      <p:sp>
        <p:nvSpPr>
          <p:cNvPr id="4" name="Shape 2"/>
          <p:cNvSpPr/>
          <p:nvPr/>
        </p:nvSpPr>
        <p:spPr>
          <a:xfrm>
            <a:off x="274320" y="960120"/>
            <a:ext cx="4023360" cy="3977640"/>
          </a:xfrm>
          <a:prstGeom prst="roundRect">
            <a:avLst>
              <a:gd name="adj" fmla="val 2759"/>
            </a:avLst>
          </a:prstGeom>
          <a:solidFill>
            <a:srgbClr val="FFFFFF"/>
          </a:solidFill>
          <a:ln/>
          <a:effectLst>
            <a:outerShdw sx="100000" sy="100000" kx="0" ky="0" algn="bl" rotWithShape="0" blurRad="101600" dist="38100" dir="2700000">
              <a:srgbClr val="000000">
                <a:alpha val="13000"/>
              </a:srgbClr>
            </a:outerShdw>
          </a:effectLst>
        </p:spPr>
      </p:sp>
      <p:sp>
        <p:nvSpPr>
          <p:cNvPr id="5" name="Shape 3"/>
          <p:cNvSpPr/>
          <p:nvPr/>
        </p:nvSpPr>
        <p:spPr>
          <a:xfrm>
            <a:off x="274320" y="960120"/>
            <a:ext cx="4023360" cy="502920"/>
          </a:xfrm>
          <a:prstGeom prst="roundRect">
            <a:avLst>
              <a:gd name="adj" fmla="val 14545"/>
            </a:avLst>
          </a:prstGeom>
          <a:solidFill>
            <a:srgbClr val="E05C4B"/>
          </a:solidFill>
          <a:ln w="12700">
            <a:solidFill>
              <a:srgbClr val="E05C4B"/>
            </a:solidFill>
            <a:prstDash val="solid"/>
          </a:ln>
        </p:spPr>
      </p:sp>
      <p:sp>
        <p:nvSpPr>
          <p:cNvPr id="6" name="Text 4"/>
          <p:cNvSpPr/>
          <p:nvPr/>
        </p:nvSpPr>
        <p:spPr>
          <a:xfrm>
            <a:off x="365760" y="987552"/>
            <a:ext cx="3840480" cy="411480"/>
          </a:xfrm>
          <a:prstGeom prst="rect">
            <a:avLst/>
          </a:prstGeom>
          <a:noFill/>
          <a:ln/>
        </p:spPr>
        <p:txBody>
          <a:bodyPr wrap="square" lIns="0" tIns="0" rIns="0" bIns="0" rtlCol="0" anchor="ctr"/>
          <a:lstStyle/>
          <a:p>
            <a:pPr indent="0" marL="0">
              <a:buNone/>
            </a:pPr>
            <a:r>
              <a:rPr lang="en-US" sz="1400" b="1" dirty="0">
                <a:solidFill>
                  <a:srgbClr val="FFFFFF"/>
                </a:solidFill>
              </a:rPr>
              <a:t>⚠  Slender Rod</a:t>
            </a:r>
            <a:endParaRPr lang="en-US" sz="1400" dirty="0"/>
          </a:p>
        </p:txBody>
      </p:sp>
      <p:sp>
        <p:nvSpPr>
          <p:cNvPr id="7" name="Text 5"/>
          <p:cNvSpPr/>
          <p:nvPr/>
        </p:nvSpPr>
        <p:spPr>
          <a:xfrm>
            <a:off x="411480" y="1554480"/>
            <a:ext cx="3749040" cy="457200"/>
          </a:xfrm>
          <a:prstGeom prst="rect">
            <a:avLst/>
          </a:prstGeom>
          <a:noFill/>
          <a:ln/>
        </p:spPr>
        <p:txBody>
          <a:bodyPr wrap="square" rtlCol="0" anchor="ctr"/>
          <a:lstStyle/>
          <a:p>
            <a:pPr marL="342900" indent="-342900">
              <a:buSzPct val="100000"/>
              <a:buChar char="•"/>
            </a:pPr>
            <a:r>
              <a:rPr lang="en-US" sz="1200" b="1" dirty="0">
                <a:solidFill>
                  <a:srgbClr val="E05C4B"/>
                </a:solidFill>
              </a:rPr>
              <a:t>ε·v₀·T_vac = 1.08  →  INVALID</a:t>
            </a:r>
            <a:endParaRPr lang="en-US" sz="1200" dirty="0"/>
          </a:p>
        </p:txBody>
      </p:sp>
      <p:sp>
        <p:nvSpPr>
          <p:cNvPr id="8" name="Text 6"/>
          <p:cNvSpPr/>
          <p:nvPr/>
        </p:nvSpPr>
        <p:spPr>
          <a:xfrm>
            <a:off x="411480" y="2048256"/>
            <a:ext cx="3749040" cy="457200"/>
          </a:xfrm>
          <a:prstGeom prst="rect">
            <a:avLst/>
          </a:prstGeom>
          <a:noFill/>
          <a:ln/>
        </p:spPr>
        <p:txBody>
          <a:bodyPr wrap="square" rtlCol="0" anchor="ctr"/>
          <a:lstStyle/>
          <a:p>
            <a:pPr marL="342900" indent="-342900">
              <a:buSzPct val="100000"/>
              <a:buChar char="•"/>
            </a:pPr>
            <a:r>
              <a:rPr lang="en-US" sz="1200" dirty="0">
                <a:solidFill>
                  <a:srgbClr val="1A2E3B"/>
                </a:solidFill>
              </a:rPr>
              <a:t>Range error: 30% (24.3 m off)</a:t>
            </a:r>
            <a:endParaRPr lang="en-US" sz="1200" dirty="0"/>
          </a:p>
        </p:txBody>
      </p:sp>
      <p:sp>
        <p:nvSpPr>
          <p:cNvPr id="9" name="Text 7"/>
          <p:cNvSpPr/>
          <p:nvPr/>
        </p:nvSpPr>
        <p:spPr>
          <a:xfrm>
            <a:off x="411480" y="2542032"/>
            <a:ext cx="3749040" cy="457200"/>
          </a:xfrm>
          <a:prstGeom prst="rect">
            <a:avLst/>
          </a:prstGeom>
          <a:noFill/>
          <a:ln/>
        </p:spPr>
        <p:txBody>
          <a:bodyPr wrap="square" rtlCol="0" anchor="ctr"/>
          <a:lstStyle/>
          <a:p>
            <a:pPr marL="342900" indent="-342900">
              <a:buSzPct val="100000"/>
              <a:buChar char="•"/>
            </a:pPr>
            <a:r>
              <a:rPr lang="en-US" sz="1200" dirty="0">
                <a:solidFill>
                  <a:srgbClr val="1A2E3B"/>
                </a:solidFill>
              </a:rPr>
              <a:t>Perturbation over-damps slow phase</a:t>
            </a:r>
            <a:endParaRPr lang="en-US" sz="1200" dirty="0"/>
          </a:p>
        </p:txBody>
      </p:sp>
      <p:sp>
        <p:nvSpPr>
          <p:cNvPr id="10" name="Text 8"/>
          <p:cNvSpPr/>
          <p:nvPr/>
        </p:nvSpPr>
        <p:spPr>
          <a:xfrm>
            <a:off x="411480" y="3035808"/>
            <a:ext cx="3749040" cy="457200"/>
          </a:xfrm>
          <a:prstGeom prst="rect">
            <a:avLst/>
          </a:prstGeom>
          <a:noFill/>
          <a:ln/>
        </p:spPr>
        <p:txBody>
          <a:bodyPr wrap="square" rtlCol="0" anchor="ctr"/>
          <a:lstStyle/>
          <a:p>
            <a:pPr marL="342900" indent="-342900">
              <a:buSzPct val="100000"/>
              <a:buChar char="•"/>
            </a:pPr>
            <a:r>
              <a:rPr lang="en-US" sz="1200" dirty="0">
                <a:solidFill>
                  <a:srgbClr val="1A2E3B"/>
                </a:solidFill>
              </a:rPr>
              <a:t>RK4 captures v² drag decay correctly</a:t>
            </a:r>
            <a:endParaRPr lang="en-US" sz="1200" dirty="0"/>
          </a:p>
        </p:txBody>
      </p:sp>
      <p:sp>
        <p:nvSpPr>
          <p:cNvPr id="11" name="Text 9"/>
          <p:cNvSpPr/>
          <p:nvPr/>
        </p:nvSpPr>
        <p:spPr>
          <a:xfrm>
            <a:off x="411480" y="3529584"/>
            <a:ext cx="3749040" cy="457200"/>
          </a:xfrm>
          <a:prstGeom prst="rect">
            <a:avLst/>
          </a:prstGeom>
          <a:noFill/>
          <a:ln/>
        </p:spPr>
        <p:txBody>
          <a:bodyPr wrap="square" rtlCol="0" anchor="ctr"/>
          <a:lstStyle/>
          <a:p>
            <a:pPr marL="342900" indent="-342900">
              <a:buSzPct val="100000"/>
              <a:buChar char="•"/>
            </a:pPr>
            <a:r>
              <a:rPr lang="en-US" sz="1200" dirty="0">
                <a:solidFill>
                  <a:srgbClr val="1A2E3B"/>
                </a:solidFill>
              </a:rPr>
              <a:t>Rod pitch oscillates (1.24 rev total)</a:t>
            </a:r>
            <a:endParaRPr lang="en-US" sz="1200" dirty="0"/>
          </a:p>
        </p:txBody>
      </p:sp>
      <p:sp>
        <p:nvSpPr>
          <p:cNvPr id="12" name="Text 10"/>
          <p:cNvSpPr/>
          <p:nvPr/>
        </p:nvSpPr>
        <p:spPr>
          <a:xfrm>
            <a:off x="411480" y="4023360"/>
            <a:ext cx="3749040" cy="457200"/>
          </a:xfrm>
          <a:prstGeom prst="rect">
            <a:avLst/>
          </a:prstGeom>
          <a:noFill/>
          <a:ln/>
        </p:spPr>
        <p:txBody>
          <a:bodyPr wrap="square" rtlCol="0" anchor="ctr"/>
          <a:lstStyle/>
          <a:p>
            <a:pPr marL="342900" indent="-342900">
              <a:buSzPct val="100000"/>
              <a:buChar char="•"/>
            </a:pPr>
            <a:r>
              <a:rPr lang="en-US" sz="1200" dirty="0">
                <a:solidFill>
                  <a:srgbClr val="1A2E3B"/>
                </a:solidFill>
              </a:rPr>
              <a:t>Torque coupling absent in perturbation</a:t>
            </a:r>
            <a:endParaRPr lang="en-US" sz="1200" dirty="0"/>
          </a:p>
        </p:txBody>
      </p:sp>
      <p:sp>
        <p:nvSpPr>
          <p:cNvPr id="13" name="Shape 11"/>
          <p:cNvSpPr/>
          <p:nvPr/>
        </p:nvSpPr>
        <p:spPr>
          <a:xfrm>
            <a:off x="4846320" y="960120"/>
            <a:ext cx="4023360" cy="3977640"/>
          </a:xfrm>
          <a:prstGeom prst="roundRect">
            <a:avLst>
              <a:gd name="adj" fmla="val 2759"/>
            </a:avLst>
          </a:prstGeom>
          <a:solidFill>
            <a:srgbClr val="FFFFFF"/>
          </a:solidFill>
          <a:ln/>
          <a:effectLst>
            <a:outerShdw sx="100000" sy="100000" kx="0" ky="0" algn="bl" rotWithShape="0" blurRad="101600" dist="38100" dir="2700000">
              <a:srgbClr val="000000">
                <a:alpha val="13000"/>
              </a:srgbClr>
            </a:outerShdw>
          </a:effectLst>
        </p:spPr>
      </p:sp>
      <p:sp>
        <p:nvSpPr>
          <p:cNvPr id="14" name="Shape 12"/>
          <p:cNvSpPr/>
          <p:nvPr/>
        </p:nvSpPr>
        <p:spPr>
          <a:xfrm>
            <a:off x="4846320" y="960120"/>
            <a:ext cx="4023360" cy="502920"/>
          </a:xfrm>
          <a:prstGeom prst="roundRect">
            <a:avLst>
              <a:gd name="adj" fmla="val 14545"/>
            </a:avLst>
          </a:prstGeom>
          <a:solidFill>
            <a:srgbClr val="1A7A4A"/>
          </a:solidFill>
          <a:ln w="12700">
            <a:solidFill>
              <a:srgbClr val="1A7A4A"/>
            </a:solidFill>
            <a:prstDash val="solid"/>
          </a:ln>
        </p:spPr>
      </p:sp>
      <p:sp>
        <p:nvSpPr>
          <p:cNvPr id="15" name="Text 13"/>
          <p:cNvSpPr/>
          <p:nvPr/>
        </p:nvSpPr>
        <p:spPr>
          <a:xfrm>
            <a:off x="4937760" y="987552"/>
            <a:ext cx="3840480" cy="411480"/>
          </a:xfrm>
          <a:prstGeom prst="rect">
            <a:avLst/>
          </a:prstGeom>
          <a:noFill/>
          <a:ln/>
        </p:spPr>
        <p:txBody>
          <a:bodyPr wrap="square" lIns="0" tIns="0" rIns="0" bIns="0" rtlCol="0" anchor="ctr"/>
          <a:lstStyle/>
          <a:p>
            <a:pPr indent="0" marL="0">
              <a:buNone/>
            </a:pPr>
            <a:r>
              <a:rPr lang="en-US" sz="1400" b="1" dirty="0">
                <a:solidFill>
                  <a:srgbClr val="FFFFFF"/>
                </a:solidFill>
              </a:rPr>
              <a:t>✓  Shot Put Ball</a:t>
            </a:r>
            <a:endParaRPr lang="en-US" sz="1400" dirty="0"/>
          </a:p>
        </p:txBody>
      </p:sp>
      <p:sp>
        <p:nvSpPr>
          <p:cNvPr id="16" name="Text 14"/>
          <p:cNvSpPr/>
          <p:nvPr/>
        </p:nvSpPr>
        <p:spPr>
          <a:xfrm>
            <a:off x="4983480" y="1554480"/>
            <a:ext cx="3749040" cy="457200"/>
          </a:xfrm>
          <a:prstGeom prst="rect">
            <a:avLst/>
          </a:prstGeom>
          <a:noFill/>
          <a:ln/>
        </p:spPr>
        <p:txBody>
          <a:bodyPr wrap="square" rtlCol="0" anchor="ctr"/>
          <a:lstStyle/>
          <a:p>
            <a:pPr marL="342900" indent="-342900">
              <a:buSzPct val="100000"/>
              <a:buChar char="•"/>
            </a:pPr>
            <a:r>
              <a:rPr lang="en-US" sz="1200" b="1" dirty="0">
                <a:solidFill>
                  <a:srgbClr val="1A7A4A"/>
                </a:solidFill>
              </a:rPr>
              <a:t>ε·v₀·T_vac = 0.079  →  VALID</a:t>
            </a:r>
            <a:endParaRPr lang="en-US" sz="1200" dirty="0"/>
          </a:p>
        </p:txBody>
      </p:sp>
      <p:sp>
        <p:nvSpPr>
          <p:cNvPr id="17" name="Text 15"/>
          <p:cNvSpPr/>
          <p:nvPr/>
        </p:nvSpPr>
        <p:spPr>
          <a:xfrm>
            <a:off x="4983480" y="2048256"/>
            <a:ext cx="3749040" cy="457200"/>
          </a:xfrm>
          <a:prstGeom prst="rect">
            <a:avLst/>
          </a:prstGeom>
          <a:noFill/>
          <a:ln/>
        </p:spPr>
        <p:txBody>
          <a:bodyPr wrap="square" rtlCol="0" anchor="ctr"/>
          <a:lstStyle/>
          <a:p>
            <a:pPr marL="342900" indent="-342900">
              <a:buSzPct val="100000"/>
              <a:buChar char="•"/>
            </a:pPr>
            <a:r>
              <a:rPr lang="en-US" sz="1200" dirty="0">
                <a:solidFill>
                  <a:srgbClr val="1A2E3B"/>
                </a:solidFill>
              </a:rPr>
              <a:t>Range error: 1.13% (1.4 m off)</a:t>
            </a:r>
            <a:endParaRPr lang="en-US" sz="1200" dirty="0"/>
          </a:p>
        </p:txBody>
      </p:sp>
      <p:sp>
        <p:nvSpPr>
          <p:cNvPr id="18" name="Text 16"/>
          <p:cNvSpPr/>
          <p:nvPr/>
        </p:nvSpPr>
        <p:spPr>
          <a:xfrm>
            <a:off x="4983480" y="2542032"/>
            <a:ext cx="3749040" cy="457200"/>
          </a:xfrm>
          <a:prstGeom prst="rect">
            <a:avLst/>
          </a:prstGeom>
          <a:noFill/>
          <a:ln/>
        </p:spPr>
        <p:txBody>
          <a:bodyPr wrap="square" rtlCol="0" anchor="ctr"/>
          <a:lstStyle/>
          <a:p>
            <a:pPr marL="342900" indent="-342900">
              <a:buSzPct val="100000"/>
              <a:buChar char="•"/>
            </a:pPr>
            <a:r>
              <a:rPr lang="en-US" sz="1200" dirty="0">
                <a:solidFill>
                  <a:srgbClr val="1A2E3B"/>
                </a:solidFill>
              </a:rPr>
              <a:t>Trajectories visually identical</a:t>
            </a:r>
            <a:endParaRPr lang="en-US" sz="1200" dirty="0"/>
          </a:p>
        </p:txBody>
      </p:sp>
      <p:sp>
        <p:nvSpPr>
          <p:cNvPr id="19" name="Text 17"/>
          <p:cNvSpPr/>
          <p:nvPr/>
        </p:nvSpPr>
        <p:spPr>
          <a:xfrm>
            <a:off x="4983480" y="3035808"/>
            <a:ext cx="3749040" cy="457200"/>
          </a:xfrm>
          <a:prstGeom prst="rect">
            <a:avLst/>
          </a:prstGeom>
          <a:noFill/>
          <a:ln/>
        </p:spPr>
        <p:txBody>
          <a:bodyPr wrap="square" rtlCol="0" anchor="ctr"/>
          <a:lstStyle/>
          <a:p>
            <a:pPr marL="342900" indent="-342900">
              <a:buSzPct val="100000"/>
              <a:buChar char="•"/>
            </a:pPr>
            <a:r>
              <a:rPr lang="en-US" sz="1200" dirty="0">
                <a:solidFill>
                  <a:srgbClr val="1A2E3B"/>
                </a:solidFill>
              </a:rPr>
              <a:t>High ballistic coefficient keeps ε tiny</a:t>
            </a:r>
            <a:endParaRPr lang="en-US" sz="1200" dirty="0"/>
          </a:p>
        </p:txBody>
      </p:sp>
      <p:sp>
        <p:nvSpPr>
          <p:cNvPr id="20" name="Text 18"/>
          <p:cNvSpPr/>
          <p:nvPr/>
        </p:nvSpPr>
        <p:spPr>
          <a:xfrm>
            <a:off x="4983480" y="3529584"/>
            <a:ext cx="3749040" cy="457200"/>
          </a:xfrm>
          <a:prstGeom prst="rect">
            <a:avLst/>
          </a:prstGeom>
          <a:noFill/>
          <a:ln/>
        </p:spPr>
        <p:txBody>
          <a:bodyPr wrap="square" rtlCol="0" anchor="ctr"/>
          <a:lstStyle/>
          <a:p>
            <a:pPr marL="342900" indent="-342900">
              <a:buSzPct val="100000"/>
              <a:buChar char="•"/>
            </a:pPr>
            <a:r>
              <a:rPr lang="en-US" sz="1200" dirty="0">
                <a:solidFill>
                  <a:srgbClr val="1A2E3B"/>
                </a:solidFill>
              </a:rPr>
              <a:t>Nonlinear terms negligible throughout</a:t>
            </a:r>
            <a:endParaRPr lang="en-US" sz="1200" dirty="0"/>
          </a:p>
        </p:txBody>
      </p:sp>
      <p:sp>
        <p:nvSpPr>
          <p:cNvPr id="21" name="Text 19"/>
          <p:cNvSpPr/>
          <p:nvPr/>
        </p:nvSpPr>
        <p:spPr>
          <a:xfrm>
            <a:off x="4983480" y="4023360"/>
            <a:ext cx="3749040" cy="457200"/>
          </a:xfrm>
          <a:prstGeom prst="rect">
            <a:avLst/>
          </a:prstGeom>
          <a:noFill/>
          <a:ln/>
        </p:spPr>
        <p:txBody>
          <a:bodyPr wrap="square" rtlCol="0" anchor="ctr"/>
          <a:lstStyle/>
          <a:p>
            <a:pPr marL="342900" indent="-342900">
              <a:buSzPct val="100000"/>
              <a:buChar char="•"/>
            </a:pPr>
            <a:r>
              <a:rPr lang="en-US" sz="1200" dirty="0">
                <a:solidFill>
                  <a:srgbClr val="1A2E3B"/>
                </a:solidFill>
              </a:rPr>
              <a:t>Perturbation = excellent closed-form tool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ctr" indent="0" marL="0">
              <a:buNone/>
            </a:pPr>
            <a:r>
              <a:rPr lang="en-US" sz="2800" b="1" spc="400" kern="0" dirty="0">
                <a:solidFill>
                  <a:srgbClr val="FFFFFF"/>
                </a:solidFill>
              </a:rPr>
              <a:t>CONCLUSIONS</a:t>
            </a:r>
            <a:endParaRPr lang="en-US" sz="2800" dirty="0"/>
          </a:p>
        </p:txBody>
      </p:sp>
      <p:sp>
        <p:nvSpPr>
          <p:cNvPr id="3" name="Shape 1"/>
          <p:cNvSpPr/>
          <p:nvPr/>
        </p:nvSpPr>
        <p:spPr>
          <a:xfrm>
            <a:off x="274320" y="1005840"/>
            <a:ext cx="4160520" cy="1783080"/>
          </a:xfrm>
          <a:prstGeom prst="roundRect">
            <a:avLst>
              <a:gd name="adj" fmla="val 6154"/>
            </a:avLst>
          </a:prstGeom>
          <a:solidFill>
            <a:srgbClr val="1B7F8E">
              <a:alpha val="15000"/>
            </a:srgbClr>
          </a:solidFill>
          <a:ln w="12700">
            <a:solidFill>
              <a:srgbClr val="2EB5C9"/>
            </a:solidFill>
            <a:prstDash val="solid"/>
          </a:ln>
        </p:spPr>
      </p:sp>
      <p:sp>
        <p:nvSpPr>
          <p:cNvPr id="4" name="Shape 2"/>
          <p:cNvSpPr/>
          <p:nvPr/>
        </p:nvSpPr>
        <p:spPr>
          <a:xfrm>
            <a:off x="411480" y="1161288"/>
            <a:ext cx="548640" cy="548640"/>
          </a:xfrm>
          <a:prstGeom prst="ellipse">
            <a:avLst/>
          </a:prstGeom>
          <a:solidFill>
            <a:srgbClr val="2EB5C9"/>
          </a:solidFill>
          <a:ln w="12700">
            <a:solidFill>
              <a:srgbClr val="2EB5C9"/>
            </a:solidFill>
            <a:prstDash val="solid"/>
          </a:ln>
        </p:spPr>
      </p:sp>
      <p:sp>
        <p:nvSpPr>
          <p:cNvPr id="5" name="Text 3"/>
          <p:cNvSpPr/>
          <p:nvPr/>
        </p:nvSpPr>
        <p:spPr>
          <a:xfrm>
            <a:off x="411480" y="1161288"/>
            <a:ext cx="548640" cy="548640"/>
          </a:xfrm>
          <a:prstGeom prst="rect">
            <a:avLst/>
          </a:prstGeom>
          <a:noFill/>
          <a:ln/>
        </p:spPr>
        <p:txBody>
          <a:bodyPr wrap="square" rtlCol="0" anchor="ctr"/>
          <a:lstStyle/>
          <a:p>
            <a:pPr algn="ctr" indent="0" marL="0">
              <a:buNone/>
            </a:pPr>
            <a:r>
              <a:rPr lang="en-US" sz="1300" b="1" dirty="0">
                <a:solidFill>
                  <a:srgbClr val="0D1B2A"/>
                </a:solidFill>
              </a:rPr>
              <a:t>ε</a:t>
            </a:r>
            <a:endParaRPr lang="en-US" sz="1300" dirty="0"/>
          </a:p>
        </p:txBody>
      </p:sp>
      <p:sp>
        <p:nvSpPr>
          <p:cNvPr id="6" name="Text 4"/>
          <p:cNvSpPr/>
          <p:nvPr/>
        </p:nvSpPr>
        <p:spPr>
          <a:xfrm>
            <a:off x="1051560" y="1188720"/>
            <a:ext cx="3246120" cy="411480"/>
          </a:xfrm>
          <a:prstGeom prst="rect">
            <a:avLst/>
          </a:prstGeom>
          <a:noFill/>
          <a:ln/>
        </p:spPr>
        <p:txBody>
          <a:bodyPr wrap="square" lIns="0" tIns="0" rIns="0" bIns="0" rtlCol="0" anchor="ctr"/>
          <a:lstStyle/>
          <a:p>
            <a:pPr indent="0" marL="0">
              <a:buNone/>
            </a:pPr>
            <a:r>
              <a:rPr lang="en-US" sz="1200" b="1" dirty="0">
                <a:solidFill>
                  <a:srgbClr val="2EB5C9"/>
                </a:solidFill>
              </a:rPr>
              <a:t>Smallness Parameter is Decisive</a:t>
            </a:r>
            <a:endParaRPr lang="en-US" sz="1200" dirty="0"/>
          </a:p>
        </p:txBody>
      </p:sp>
      <p:sp>
        <p:nvSpPr>
          <p:cNvPr id="7" name="Text 5"/>
          <p:cNvSpPr/>
          <p:nvPr/>
        </p:nvSpPr>
        <p:spPr>
          <a:xfrm>
            <a:off x="457200" y="1737360"/>
            <a:ext cx="3840480" cy="914400"/>
          </a:xfrm>
          <a:prstGeom prst="rect">
            <a:avLst/>
          </a:prstGeom>
          <a:noFill/>
          <a:ln/>
        </p:spPr>
        <p:txBody>
          <a:bodyPr wrap="square" rtlCol="0" anchor="ctr"/>
          <a:lstStyle/>
          <a:p>
            <a:pPr indent="0" marL="0">
              <a:buNone/>
            </a:pPr>
            <a:r>
              <a:rPr lang="en-US" sz="1150" dirty="0">
                <a:solidFill>
                  <a:srgbClr val="FFFFFF"/>
                </a:solidFill>
              </a:rPr>
              <a:t>ε·v₀·T_vac governs validity. Below 0.3: perturbation works. Above it: use RK4.</a:t>
            </a:r>
            <a:endParaRPr lang="en-US" sz="1150" dirty="0"/>
          </a:p>
        </p:txBody>
      </p:sp>
      <p:sp>
        <p:nvSpPr>
          <p:cNvPr id="8" name="Shape 6"/>
          <p:cNvSpPr/>
          <p:nvPr/>
        </p:nvSpPr>
        <p:spPr>
          <a:xfrm>
            <a:off x="4709160" y="1005840"/>
            <a:ext cx="4160520" cy="1783080"/>
          </a:xfrm>
          <a:prstGeom prst="roundRect">
            <a:avLst>
              <a:gd name="adj" fmla="val 6154"/>
            </a:avLst>
          </a:prstGeom>
          <a:solidFill>
            <a:srgbClr val="1B7F8E">
              <a:alpha val="15000"/>
            </a:srgbClr>
          </a:solidFill>
          <a:ln w="12700">
            <a:solidFill>
              <a:srgbClr val="F4B942"/>
            </a:solidFill>
            <a:prstDash val="solid"/>
          </a:ln>
        </p:spPr>
      </p:sp>
      <p:sp>
        <p:nvSpPr>
          <p:cNvPr id="9" name="Shape 7"/>
          <p:cNvSpPr/>
          <p:nvPr/>
        </p:nvSpPr>
        <p:spPr>
          <a:xfrm>
            <a:off x="4846320" y="1161288"/>
            <a:ext cx="548640" cy="548640"/>
          </a:xfrm>
          <a:prstGeom prst="ellipse">
            <a:avLst/>
          </a:prstGeom>
          <a:solidFill>
            <a:srgbClr val="F4B942"/>
          </a:solidFill>
          <a:ln w="12700">
            <a:solidFill>
              <a:srgbClr val="F4B942"/>
            </a:solidFill>
            <a:prstDash val="solid"/>
          </a:ln>
        </p:spPr>
      </p:sp>
      <p:sp>
        <p:nvSpPr>
          <p:cNvPr id="10" name="Text 8"/>
          <p:cNvSpPr/>
          <p:nvPr/>
        </p:nvSpPr>
        <p:spPr>
          <a:xfrm>
            <a:off x="4846320" y="1161288"/>
            <a:ext cx="548640" cy="548640"/>
          </a:xfrm>
          <a:prstGeom prst="rect">
            <a:avLst/>
          </a:prstGeom>
          <a:noFill/>
          <a:ln/>
        </p:spPr>
        <p:txBody>
          <a:bodyPr wrap="square" rtlCol="0" anchor="ctr"/>
          <a:lstStyle/>
          <a:p>
            <a:pPr algn="ctr" indent="0" marL="0">
              <a:buNone/>
            </a:pPr>
            <a:r>
              <a:rPr lang="en-US" sz="1300" b="1" dirty="0">
                <a:solidFill>
                  <a:srgbClr val="0D1B2A"/>
                </a:solidFill>
              </a:rPr>
              <a:t>v²</a:t>
            </a:r>
            <a:endParaRPr lang="en-US" sz="1300" dirty="0"/>
          </a:p>
        </p:txBody>
      </p:sp>
      <p:sp>
        <p:nvSpPr>
          <p:cNvPr id="11" name="Text 9"/>
          <p:cNvSpPr/>
          <p:nvPr/>
        </p:nvSpPr>
        <p:spPr>
          <a:xfrm>
            <a:off x="5486400" y="1188720"/>
            <a:ext cx="3246120" cy="411480"/>
          </a:xfrm>
          <a:prstGeom prst="rect">
            <a:avLst/>
          </a:prstGeom>
          <a:noFill/>
          <a:ln/>
        </p:spPr>
        <p:txBody>
          <a:bodyPr wrap="square" lIns="0" tIns="0" rIns="0" bIns="0" rtlCol="0" anchor="ctr"/>
          <a:lstStyle/>
          <a:p>
            <a:pPr indent="0" marL="0">
              <a:buNone/>
            </a:pPr>
            <a:r>
              <a:rPr lang="en-US" sz="1200" b="1" dirty="0">
                <a:solidFill>
                  <a:srgbClr val="F4B942"/>
                </a:solidFill>
              </a:rPr>
              <a:t>Quadratic Drag ≠ Linearized Drag</a:t>
            </a:r>
            <a:endParaRPr lang="en-US" sz="1200" dirty="0"/>
          </a:p>
        </p:txBody>
      </p:sp>
      <p:sp>
        <p:nvSpPr>
          <p:cNvPr id="12" name="Text 10"/>
          <p:cNvSpPr/>
          <p:nvPr/>
        </p:nvSpPr>
        <p:spPr>
          <a:xfrm>
            <a:off x="4892040" y="1737360"/>
            <a:ext cx="3840480" cy="914400"/>
          </a:xfrm>
          <a:prstGeom prst="rect">
            <a:avLst/>
          </a:prstGeom>
          <a:noFill/>
          <a:ln/>
        </p:spPr>
        <p:txBody>
          <a:bodyPr wrap="square" rtlCol="0" anchor="ctr"/>
          <a:lstStyle/>
          <a:p>
            <a:pPr indent="0" marL="0">
              <a:buNone/>
            </a:pPr>
            <a:r>
              <a:rPr lang="en-US" sz="1150" dirty="0">
                <a:solidFill>
                  <a:srgbClr val="FFFFFF"/>
                </a:solidFill>
              </a:rPr>
              <a:t>The v² decay near the apex is the physical mechanism that the constant-γ perturbation cannot capture.</a:t>
            </a:r>
            <a:endParaRPr lang="en-US" sz="1150" dirty="0"/>
          </a:p>
        </p:txBody>
      </p:sp>
      <p:sp>
        <p:nvSpPr>
          <p:cNvPr id="13" name="Shape 11"/>
          <p:cNvSpPr/>
          <p:nvPr/>
        </p:nvSpPr>
        <p:spPr>
          <a:xfrm>
            <a:off x="274320" y="2971800"/>
            <a:ext cx="4160520" cy="1783080"/>
          </a:xfrm>
          <a:prstGeom prst="roundRect">
            <a:avLst>
              <a:gd name="adj" fmla="val 6154"/>
            </a:avLst>
          </a:prstGeom>
          <a:solidFill>
            <a:srgbClr val="1B7F8E">
              <a:alpha val="15000"/>
            </a:srgbClr>
          </a:solidFill>
          <a:ln w="12700">
            <a:solidFill>
              <a:srgbClr val="A8DADC"/>
            </a:solidFill>
            <a:prstDash val="solid"/>
          </a:ln>
        </p:spPr>
      </p:sp>
      <p:sp>
        <p:nvSpPr>
          <p:cNvPr id="14" name="Shape 12"/>
          <p:cNvSpPr/>
          <p:nvPr/>
        </p:nvSpPr>
        <p:spPr>
          <a:xfrm>
            <a:off x="411480" y="3127248"/>
            <a:ext cx="548640" cy="548640"/>
          </a:xfrm>
          <a:prstGeom prst="ellipse">
            <a:avLst/>
          </a:prstGeom>
          <a:solidFill>
            <a:srgbClr val="A8DADC"/>
          </a:solidFill>
          <a:ln w="12700">
            <a:solidFill>
              <a:srgbClr val="A8DADC"/>
            </a:solidFill>
            <a:prstDash val="solid"/>
          </a:ln>
        </p:spPr>
      </p:sp>
      <p:sp>
        <p:nvSpPr>
          <p:cNvPr id="15" name="Text 13"/>
          <p:cNvSpPr/>
          <p:nvPr/>
        </p:nvSpPr>
        <p:spPr>
          <a:xfrm>
            <a:off x="411480" y="3127248"/>
            <a:ext cx="548640" cy="548640"/>
          </a:xfrm>
          <a:prstGeom prst="rect">
            <a:avLst/>
          </a:prstGeom>
          <a:noFill/>
          <a:ln/>
        </p:spPr>
        <p:txBody>
          <a:bodyPr wrap="square" rtlCol="0" anchor="ctr"/>
          <a:lstStyle/>
          <a:p>
            <a:pPr algn="ctr" indent="0" marL="0">
              <a:buNone/>
            </a:pPr>
            <a:r>
              <a:rPr lang="en-US" sz="1300" b="1" dirty="0">
                <a:solidFill>
                  <a:srgbClr val="0D1B2A"/>
                </a:solidFill>
              </a:rPr>
              <a:t>↻</a:t>
            </a:r>
            <a:endParaRPr lang="en-US" sz="1300" dirty="0"/>
          </a:p>
        </p:txBody>
      </p:sp>
      <p:sp>
        <p:nvSpPr>
          <p:cNvPr id="16" name="Text 14"/>
          <p:cNvSpPr/>
          <p:nvPr/>
        </p:nvSpPr>
        <p:spPr>
          <a:xfrm>
            <a:off x="1051560" y="3154680"/>
            <a:ext cx="3246120" cy="411480"/>
          </a:xfrm>
          <a:prstGeom prst="rect">
            <a:avLst/>
          </a:prstGeom>
          <a:noFill/>
          <a:ln/>
        </p:spPr>
        <p:txBody>
          <a:bodyPr wrap="square" lIns="0" tIns="0" rIns="0" bIns="0" rtlCol="0" anchor="ctr"/>
          <a:lstStyle/>
          <a:p>
            <a:pPr indent="0" marL="0">
              <a:buNone/>
            </a:pPr>
            <a:r>
              <a:rPr lang="en-US" sz="1200" b="1" dirty="0">
                <a:solidFill>
                  <a:srgbClr val="A8DADC"/>
                </a:solidFill>
              </a:rPr>
              <a:t>Rotation Requires Full Numerics</a:t>
            </a:r>
            <a:endParaRPr lang="en-US" sz="1200" dirty="0"/>
          </a:p>
        </p:txBody>
      </p:sp>
      <p:sp>
        <p:nvSpPr>
          <p:cNvPr id="17" name="Text 15"/>
          <p:cNvSpPr/>
          <p:nvPr/>
        </p:nvSpPr>
        <p:spPr>
          <a:xfrm>
            <a:off x="457200" y="3703320"/>
            <a:ext cx="3840480" cy="914400"/>
          </a:xfrm>
          <a:prstGeom prst="rect">
            <a:avLst/>
          </a:prstGeom>
          <a:noFill/>
          <a:ln/>
        </p:spPr>
        <p:txBody>
          <a:bodyPr wrap="square" rtlCol="0" anchor="ctr"/>
          <a:lstStyle/>
          <a:p>
            <a:pPr indent="0" marL="0">
              <a:buNone/>
            </a:pPr>
            <a:r>
              <a:rPr lang="en-US" sz="1150" dirty="0">
                <a:solidFill>
                  <a:srgbClr val="FFFFFF"/>
                </a:solidFill>
              </a:rPr>
              <a:t>Pitch oscillation and aerodynamic torque coupling exist only in the multi-DOF RK4 model.</a:t>
            </a:r>
            <a:endParaRPr lang="en-US" sz="1150" dirty="0"/>
          </a:p>
        </p:txBody>
      </p:sp>
      <p:sp>
        <p:nvSpPr>
          <p:cNvPr id="18" name="Shape 16"/>
          <p:cNvSpPr/>
          <p:nvPr/>
        </p:nvSpPr>
        <p:spPr>
          <a:xfrm>
            <a:off x="4709160" y="2971800"/>
            <a:ext cx="4160520" cy="1783080"/>
          </a:xfrm>
          <a:prstGeom prst="roundRect">
            <a:avLst>
              <a:gd name="adj" fmla="val 6154"/>
            </a:avLst>
          </a:prstGeom>
          <a:solidFill>
            <a:srgbClr val="1B7F8E">
              <a:alpha val="15000"/>
            </a:srgbClr>
          </a:solidFill>
          <a:ln w="12700">
            <a:solidFill>
              <a:srgbClr val="A8D5A2"/>
            </a:solidFill>
            <a:prstDash val="solid"/>
          </a:ln>
        </p:spPr>
      </p:sp>
      <p:sp>
        <p:nvSpPr>
          <p:cNvPr id="19" name="Shape 17"/>
          <p:cNvSpPr/>
          <p:nvPr/>
        </p:nvSpPr>
        <p:spPr>
          <a:xfrm>
            <a:off x="4846320" y="3127248"/>
            <a:ext cx="548640" cy="548640"/>
          </a:xfrm>
          <a:prstGeom prst="ellipse">
            <a:avLst/>
          </a:prstGeom>
          <a:solidFill>
            <a:srgbClr val="A8D5A2"/>
          </a:solidFill>
          <a:ln w="12700">
            <a:solidFill>
              <a:srgbClr val="A8D5A2"/>
            </a:solidFill>
            <a:prstDash val="solid"/>
          </a:ln>
        </p:spPr>
      </p:sp>
      <p:sp>
        <p:nvSpPr>
          <p:cNvPr id="20" name="Text 18"/>
          <p:cNvSpPr/>
          <p:nvPr/>
        </p:nvSpPr>
        <p:spPr>
          <a:xfrm>
            <a:off x="4846320" y="3127248"/>
            <a:ext cx="548640" cy="548640"/>
          </a:xfrm>
          <a:prstGeom prst="rect">
            <a:avLst/>
          </a:prstGeom>
          <a:noFill/>
          <a:ln/>
        </p:spPr>
        <p:txBody>
          <a:bodyPr wrap="square" rtlCol="0" anchor="ctr"/>
          <a:lstStyle/>
          <a:p>
            <a:pPr algn="ctr" indent="0" marL="0">
              <a:buNone/>
            </a:pPr>
            <a:r>
              <a:rPr lang="en-US" sz="1300" b="1" dirty="0">
                <a:solidFill>
                  <a:srgbClr val="0D1B2A"/>
                </a:solidFill>
              </a:rPr>
              <a:t>✓</a:t>
            </a:r>
            <a:endParaRPr lang="en-US" sz="1300" dirty="0"/>
          </a:p>
        </p:txBody>
      </p:sp>
      <p:sp>
        <p:nvSpPr>
          <p:cNvPr id="21" name="Text 19"/>
          <p:cNvSpPr/>
          <p:nvPr/>
        </p:nvSpPr>
        <p:spPr>
          <a:xfrm>
            <a:off x="5486400" y="3154680"/>
            <a:ext cx="3246120" cy="411480"/>
          </a:xfrm>
          <a:prstGeom prst="rect">
            <a:avLst/>
          </a:prstGeom>
          <a:noFill/>
          <a:ln/>
        </p:spPr>
        <p:txBody>
          <a:bodyPr wrap="square" lIns="0" tIns="0" rIns="0" bIns="0" rtlCol="0" anchor="ctr"/>
          <a:lstStyle/>
          <a:p>
            <a:pPr indent="0" marL="0">
              <a:buNone/>
            </a:pPr>
            <a:r>
              <a:rPr lang="en-US" sz="1200" b="1" dirty="0">
                <a:solidFill>
                  <a:srgbClr val="A8D5A2"/>
                </a:solidFill>
              </a:rPr>
              <a:t>Perturbation Excels for Dense Projectiles</a:t>
            </a:r>
            <a:endParaRPr lang="en-US" sz="1200" dirty="0"/>
          </a:p>
        </p:txBody>
      </p:sp>
      <p:sp>
        <p:nvSpPr>
          <p:cNvPr id="22" name="Text 20"/>
          <p:cNvSpPr/>
          <p:nvPr/>
        </p:nvSpPr>
        <p:spPr>
          <a:xfrm>
            <a:off x="4892040" y="3703320"/>
            <a:ext cx="3840480" cy="914400"/>
          </a:xfrm>
          <a:prstGeom prst="rect">
            <a:avLst/>
          </a:prstGeom>
          <a:noFill/>
          <a:ln/>
        </p:spPr>
        <p:txBody>
          <a:bodyPr wrap="square" rtlCol="0" anchor="ctr"/>
          <a:lstStyle/>
          <a:p>
            <a:pPr indent="0" marL="0">
              <a:buNone/>
            </a:pPr>
            <a:r>
              <a:rPr lang="en-US" sz="1150" dirty="0">
                <a:solidFill>
                  <a:srgbClr val="FFFFFF"/>
                </a:solidFill>
              </a:rPr>
              <a:t>High ballistic coefficient → tiny ε → analytical surrogate as accurate as numerical integration.</a:t>
            </a:r>
            <a:endParaRPr lang="en-US" sz="1150" dirty="0"/>
          </a:p>
        </p:txBody>
      </p:sp>
      <p:sp>
        <p:nvSpPr>
          <p:cNvPr id="23" name="Text 21"/>
          <p:cNvSpPr/>
          <p:nvPr/>
        </p:nvSpPr>
        <p:spPr>
          <a:xfrm>
            <a:off x="457200" y="4663440"/>
            <a:ext cx="8229600" cy="365760"/>
          </a:xfrm>
          <a:prstGeom prst="rect">
            <a:avLst/>
          </a:prstGeom>
          <a:noFill/>
          <a:ln/>
        </p:spPr>
        <p:txBody>
          <a:bodyPr wrap="square" rtlCol="0" anchor="ctr"/>
          <a:lstStyle/>
          <a:p>
            <a:pPr algn="ctr" indent="0" marL="0">
              <a:buNone/>
            </a:pPr>
            <a:r>
              <a:rPr lang="en-US" sz="1300" i="1" dirty="0">
                <a:solidFill>
                  <a:srgbClr val="9BB5C0"/>
                </a:solidFill>
              </a:rPr>
              <a:t>Thank you — Questions?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Projectile Motion: Numerical &amp; Perturbative Analysis</dc:title>
  <dc:subject>PptxGenJS Presentation</dc:subject>
  <dc:creator>PptxGenJS</dc:creator>
  <cp:lastModifiedBy>PptxGenJS</cp:lastModifiedBy>
  <cp:revision>1</cp:revision>
  <dcterms:created xsi:type="dcterms:W3CDTF">2026-06-08T23:10:31Z</dcterms:created>
  <dcterms:modified xsi:type="dcterms:W3CDTF">2026-06-08T23:10:31Z</dcterms:modified>
</cp:coreProperties>
</file>